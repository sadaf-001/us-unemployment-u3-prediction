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144000"/>
  <p:embeddedFontLst>
    <p:embeddedFont>
      <p:font typeface="Roboto Medium"/>
      <p:regular r:id="rId22"/>
      <p:bold r:id="rId23"/>
      <p:italic r:id="rId24"/>
      <p:boldItalic r:id="rId25"/>
    </p:embeddedFont>
    <p:embeddedFont>
      <p:font typeface="Roboto"/>
      <p:regular r:id="rId26"/>
      <p:bold r:id="rId27"/>
      <p:italic r:id="rId28"/>
      <p:boldItalic r:id="rId29"/>
    </p:embeddedFont>
    <p:embeddedFont>
      <p:font typeface="Helvetica Neue"/>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ju3YPPSy4AjgAK5g+Tjs6zJxHD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353916-5367-4826-916C-976175D6CF8C}">
  <a:tblStyle styleId="{BC353916-5367-4826-916C-976175D6CF8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Medium-regular.fntdata"/><Relationship Id="rId21" Type="http://schemas.openxmlformats.org/officeDocument/2006/relationships/slide" Target="slides/slide16.xml"/><Relationship Id="rId24" Type="http://schemas.openxmlformats.org/officeDocument/2006/relationships/font" Target="fonts/RobotoMedium-italic.fntdata"/><Relationship Id="rId23" Type="http://schemas.openxmlformats.org/officeDocument/2006/relationships/font" Target="fonts/Roboto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font" Target="fonts/RobotoMedium-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da265f95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ada265f958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e0ab2fae4_0_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e0ab2fae4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ae0ab2fae4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da265f958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3ada265f958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da265f958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3ada265f958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da265f958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3ada265f958_0_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ecbfccf9e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ecbfccf9e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g3aecbfccf9e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da265f958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do this, we collected monthly labor-market indicators such as layoffs, continued claims, payroll counts, job openings, and unemployment trends. We also created versions of these indicators that include lags, percent changes, and moving averages, because unemployment rarely moves suddenly</a:t>
            </a:r>
            <a:endParaRPr/>
          </a:p>
        </p:txBody>
      </p:sp>
      <p:sp>
        <p:nvSpPr>
          <p:cNvPr id="341" name="Google Shape;341;g3ada265f958_0_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ada265f958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Many indicators naturally move together</a:t>
            </a:r>
            <a:r>
              <a:rPr lang="en-US"/>
              <a:t>, but this does not harm forecasting because the goal is accurate prediction, not isolating causality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model’s errors behave as expected </a:t>
            </a:r>
            <a:br>
              <a:rPr lang="en-US"/>
            </a:br>
            <a:r>
              <a:rPr lang="en-US"/>
              <a:t>he points lie very close to the straight line, which means the model’s errors behave the way we expect under linear regression. In other words, the model is not showing signs of distortion or bias.</a:t>
            </a:r>
            <a:endParaRPr/>
          </a:p>
        </p:txBody>
      </p:sp>
      <p:sp>
        <p:nvSpPr>
          <p:cNvPr id="348" name="Google Shape;348;g3ada265f958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a5fd78da0b_2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a5fd78da0b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3a5fd78da0b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ada265f958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This estimate lines up with what we’ve been seeing lately: layoffs have risen modestly, payroll growth has cooled, and unemployment has been trending slowly upward.</a:t>
            </a:r>
            <a:endParaRPr/>
          </a:p>
          <a:p>
            <a:pPr indent="0" lvl="0" marL="0" rtl="0" algn="l">
              <a:spcBef>
                <a:spcPts val="0"/>
              </a:spcBef>
              <a:spcAft>
                <a:spcPts val="0"/>
              </a:spcAft>
              <a:buNone/>
            </a:pPr>
            <a:r>
              <a:rPr lang="en-US"/>
              <a:t>So a prediction in the low fours is consistent with those patterns.`</a:t>
            </a:r>
            <a:endParaRPr/>
          </a:p>
        </p:txBody>
      </p:sp>
      <p:sp>
        <p:nvSpPr>
          <p:cNvPr id="367" name="Google Shape;367;g3ada265f958_0_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adfee3e6af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adfee3e6a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Residual Variance: Average Squared Error</a:t>
            </a:r>
            <a:endParaRPr/>
          </a:p>
          <a:p>
            <a:pPr indent="0" lvl="0" marL="0" rtl="0" algn="l">
              <a:spcBef>
                <a:spcPts val="0"/>
              </a:spcBef>
              <a:spcAft>
                <a:spcPts val="0"/>
              </a:spcAft>
              <a:buNone/>
            </a:pPr>
            <a:r>
              <a:rPr lang="en-US"/>
              <a:t>MAE: average magnitude of errors</a:t>
            </a:r>
            <a:endParaRPr/>
          </a:p>
          <a:p>
            <a:pPr indent="0" lvl="0" marL="0" rtl="0" algn="l">
              <a:spcBef>
                <a:spcPts val="0"/>
              </a:spcBef>
              <a:spcAft>
                <a:spcPts val="0"/>
              </a:spcAft>
              <a:buNone/>
            </a:pPr>
            <a:r>
              <a:rPr lang="en-US"/>
              <a:t>RMSE: squares the errors, takes the mean and then takes root</a:t>
            </a:r>
            <a:endParaRPr/>
          </a:p>
          <a:p>
            <a:pPr indent="0" lvl="0" marL="0" rtl="0" algn="l">
              <a:spcBef>
                <a:spcPts val="0"/>
              </a:spcBef>
              <a:spcAft>
                <a:spcPts val="0"/>
              </a:spcAft>
              <a:buNone/>
            </a:pPr>
            <a:r>
              <a:rPr lang="en-US"/>
              <a:t>R squared: proportion of variance in target predictable from predictor variables</a:t>
            </a:r>
            <a:endParaRPr/>
          </a:p>
          <a:p>
            <a:pPr indent="0" lvl="0" marL="0" rtl="0" algn="l">
              <a:spcBef>
                <a:spcPts val="0"/>
              </a:spcBef>
              <a:spcAft>
                <a:spcPts val="0"/>
              </a:spcAft>
              <a:buNone/>
            </a:pPr>
            <a:r>
              <a:rPr lang="en-US"/>
              <a:t>Adjusted R-squared: Penalizes model for adding </a:t>
            </a:r>
            <a:r>
              <a:rPr lang="en-US"/>
              <a:t>unnecessary</a:t>
            </a:r>
            <a:r>
              <a:rPr lang="en-US"/>
              <a:t> predictors</a:t>
            </a:r>
            <a:endParaRPr/>
          </a:p>
          <a:p>
            <a:pPr indent="0" lvl="0" marL="0" rtl="0" algn="l">
              <a:lnSpc>
                <a:spcPct val="115000"/>
              </a:lnSpc>
              <a:spcBef>
                <a:spcPts val="0"/>
              </a:spcBef>
              <a:spcAft>
                <a:spcPts val="0"/>
              </a:spcAft>
              <a:buClr>
                <a:schemeClr val="dk1"/>
              </a:buClr>
              <a:buSzPts val="1100"/>
              <a:buFont typeface="Arial"/>
              <a:buNone/>
            </a:pPr>
            <a:r>
              <a:rPr lang="en-US"/>
              <a:t>R² = 1 - (Sum(Residual²) / Sum((Actual - Mean)²))</a:t>
            </a:r>
            <a:endParaRPr/>
          </a:p>
          <a:p>
            <a:pPr indent="0" lvl="0" marL="0" rtl="0" algn="l">
              <a:lnSpc>
                <a:spcPct val="115000"/>
              </a:lnSpc>
              <a:spcBef>
                <a:spcPts val="0"/>
              </a:spcBef>
              <a:spcAft>
                <a:spcPts val="0"/>
              </a:spcAft>
              <a:buNone/>
            </a:pPr>
            <a:r>
              <a:rPr lang="en-US"/>
              <a:t>Adjusted R² = 1 - (1-R²) * (n-1)/(n-p-1)</a:t>
            </a:r>
            <a:endParaRPr/>
          </a:p>
        </p:txBody>
      </p:sp>
      <p:sp>
        <p:nvSpPr>
          <p:cNvPr id="375" name="Google Shape;375;g3adfee3e6a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e2c5b36e6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ae2c5b36e6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3ae2c5b36e6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ada265f958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g3ada265f958_0_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da265f958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3ada265f958_0_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9" name="Shape 19"/>
        <p:cNvGrpSpPr/>
        <p:nvPr/>
      </p:nvGrpSpPr>
      <p:grpSpPr>
        <a:xfrm>
          <a:off x="0" y="0"/>
          <a:ext cx="0" cy="0"/>
          <a:chOff x="0" y="0"/>
          <a:chExt cx="0" cy="0"/>
        </a:xfrm>
      </p:grpSpPr>
      <p:sp>
        <p:nvSpPr>
          <p:cNvPr id="20" name="Google Shape;20;p30"/>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30"/>
          <p:cNvSpPr txBox="1"/>
          <p:nvPr>
            <p:ph type="title"/>
          </p:nvPr>
        </p:nvSpPr>
        <p:spPr>
          <a:xfrm>
            <a:off x="628650" y="6477"/>
            <a:ext cx="7886700" cy="1325563"/>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Image Background Shield">
  <p:cSld name="Title Slide Image Background Shield">
    <p:spTree>
      <p:nvGrpSpPr>
        <p:cNvPr id="22" name="Shape 22"/>
        <p:cNvGrpSpPr/>
        <p:nvPr/>
      </p:nvGrpSpPr>
      <p:grpSpPr>
        <a:xfrm>
          <a:off x="0" y="0"/>
          <a:ext cx="0" cy="0"/>
          <a:chOff x="0" y="0"/>
          <a:chExt cx="0" cy="0"/>
        </a:xfrm>
      </p:grpSpPr>
      <p:pic>
        <p:nvPicPr>
          <p:cNvPr id="23" name="Google Shape;23;p31"/>
          <p:cNvPicPr preferRelativeResize="0"/>
          <p:nvPr/>
        </p:nvPicPr>
        <p:blipFill rotWithShape="1">
          <a:blip r:embed="rId2">
            <a:alphaModFix/>
          </a:blip>
          <a:srcRect b="397" l="0" r="39184" t="31315"/>
          <a:stretch/>
        </p:blipFill>
        <p:spPr>
          <a:xfrm>
            <a:off x="0" y="22359"/>
            <a:ext cx="9143999" cy="6844988"/>
          </a:xfrm>
          <a:prstGeom prst="rect">
            <a:avLst/>
          </a:prstGeom>
          <a:noFill/>
          <a:ln>
            <a:noFill/>
          </a:ln>
        </p:spPr>
      </p:pic>
      <p:pic>
        <p:nvPicPr>
          <p:cNvPr id="24" name="Google Shape;24;p31"/>
          <p:cNvPicPr preferRelativeResize="0"/>
          <p:nvPr/>
        </p:nvPicPr>
        <p:blipFill rotWithShape="1">
          <a:blip r:embed="rId3">
            <a:alphaModFix amt="80000"/>
          </a:blip>
          <a:srcRect b="0" l="0" r="0" t="0"/>
          <a:stretch/>
        </p:blipFill>
        <p:spPr>
          <a:xfrm>
            <a:off x="-2613365" y="-2649402"/>
            <a:ext cx="9693037" cy="12543930"/>
          </a:xfrm>
          <a:prstGeom prst="rect">
            <a:avLst/>
          </a:prstGeom>
          <a:noFill/>
          <a:ln>
            <a:noFill/>
          </a:ln>
        </p:spPr>
      </p:pic>
      <p:sp>
        <p:nvSpPr>
          <p:cNvPr id="25" name="Google Shape;25;p31"/>
          <p:cNvSpPr txBox="1"/>
          <p:nvPr>
            <p:ph type="title"/>
          </p:nvPr>
        </p:nvSpPr>
        <p:spPr>
          <a:xfrm>
            <a:off x="628650" y="365126"/>
            <a:ext cx="4004733" cy="3044058"/>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1"/>
          <p:cNvSpPr txBox="1"/>
          <p:nvPr>
            <p:ph idx="1" type="body"/>
          </p:nvPr>
        </p:nvSpPr>
        <p:spPr>
          <a:xfrm>
            <a:off x="628650" y="3607755"/>
            <a:ext cx="4004733" cy="1660818"/>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800"/>
              <a:buNone/>
              <a:defRPr sz="1800">
                <a:solidFill>
                  <a:schemeClr val="dk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2pPr>
            <a:lvl3pPr indent="-228600" lvl="2" marL="13716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3pPr>
            <a:lvl4pPr indent="-228600" lvl="3" marL="18288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4pPr>
            <a:lvl5pPr indent="-228600" lvl="4" marL="22860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7" name="Google Shape;27;p31"/>
          <p:cNvGrpSpPr/>
          <p:nvPr/>
        </p:nvGrpSpPr>
        <p:grpSpPr>
          <a:xfrm>
            <a:off x="0" y="6396465"/>
            <a:ext cx="9144000" cy="470918"/>
            <a:chOff x="0" y="6396465"/>
            <a:chExt cx="9144000" cy="470918"/>
          </a:xfrm>
        </p:grpSpPr>
        <p:sp>
          <p:nvSpPr>
            <p:cNvPr id="28" name="Google Shape;28;p31"/>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9" name="Google Shape;29;p31"/>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30" name="Google Shape;30;p31"/>
            <p:cNvPicPr preferRelativeResize="0"/>
            <p:nvPr/>
          </p:nvPicPr>
          <p:blipFill rotWithShape="1">
            <a:blip r:embed="rId4">
              <a:alphaModFix/>
            </a:blip>
            <a:srcRect b="0" l="0" r="0" t="0"/>
            <a:stretch/>
          </p:blipFill>
          <p:spPr>
            <a:xfrm>
              <a:off x="496296" y="6409934"/>
              <a:ext cx="2094393" cy="451789"/>
            </a:xfrm>
            <a:prstGeom prst="rect">
              <a:avLst/>
            </a:prstGeom>
            <a:noFill/>
            <a:ln>
              <a:noFill/>
            </a:ln>
          </p:spPr>
        </p:pic>
        <p:pic>
          <p:nvPicPr>
            <p:cNvPr id="31" name="Google Shape;31;p31"/>
            <p:cNvPicPr preferRelativeResize="0"/>
            <p:nvPr/>
          </p:nvPicPr>
          <p:blipFill rotWithShape="1">
            <a:blip r:embed="rId5">
              <a:alphaModFix/>
            </a:blip>
            <a:srcRect b="0" l="0" r="0" t="0"/>
            <a:stretch/>
          </p:blipFill>
          <p:spPr>
            <a:xfrm>
              <a:off x="3903217" y="6398195"/>
              <a:ext cx="2088055" cy="462356"/>
            </a:xfrm>
            <a:prstGeom prst="rect">
              <a:avLst/>
            </a:prstGeom>
            <a:noFill/>
            <a:ln>
              <a:noFill/>
            </a:ln>
          </p:spPr>
        </p:pic>
        <p:pic>
          <p:nvPicPr>
            <p:cNvPr id="32" name="Google Shape;32;p31"/>
            <p:cNvPicPr preferRelativeResize="0"/>
            <p:nvPr/>
          </p:nvPicPr>
          <p:blipFill rotWithShape="1">
            <a:blip r:embed="rId6">
              <a:alphaModFix/>
            </a:blip>
            <a:srcRect b="0" l="0" r="0" t="0"/>
            <a:stretch/>
          </p:blipFill>
          <p:spPr>
            <a:xfrm>
              <a:off x="2555997" y="6413546"/>
              <a:ext cx="2040333" cy="450968"/>
            </a:xfrm>
            <a:prstGeom prst="rect">
              <a:avLst/>
            </a:prstGeom>
            <a:noFill/>
            <a:ln>
              <a:noFill/>
            </a:ln>
          </p:spPr>
        </p:pic>
        <p:cxnSp>
          <p:nvCxnSpPr>
            <p:cNvPr id="33" name="Google Shape;33;p31"/>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34" name="Google Shape;34;p31"/>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Image Background Bar">
  <p:cSld name="Title Slide Image Background Bar">
    <p:spTree>
      <p:nvGrpSpPr>
        <p:cNvPr id="35" name="Shape 35"/>
        <p:cNvGrpSpPr/>
        <p:nvPr/>
      </p:nvGrpSpPr>
      <p:grpSpPr>
        <a:xfrm>
          <a:off x="0" y="0"/>
          <a:ext cx="0" cy="0"/>
          <a:chOff x="0" y="0"/>
          <a:chExt cx="0" cy="0"/>
        </a:xfrm>
      </p:grpSpPr>
      <p:pic>
        <p:nvPicPr>
          <p:cNvPr id="36" name="Google Shape;36;p32"/>
          <p:cNvPicPr preferRelativeResize="0"/>
          <p:nvPr/>
        </p:nvPicPr>
        <p:blipFill rotWithShape="1">
          <a:blip r:embed="rId2">
            <a:alphaModFix/>
          </a:blip>
          <a:srcRect b="2977" l="0" r="39184" t="28828"/>
          <a:stretch/>
        </p:blipFill>
        <p:spPr>
          <a:xfrm>
            <a:off x="1" y="-1"/>
            <a:ext cx="9144000" cy="6835641"/>
          </a:xfrm>
          <a:prstGeom prst="rect">
            <a:avLst/>
          </a:prstGeom>
          <a:noFill/>
          <a:ln>
            <a:noFill/>
          </a:ln>
        </p:spPr>
      </p:pic>
      <p:sp>
        <p:nvSpPr>
          <p:cNvPr id="37" name="Google Shape;37;p32"/>
          <p:cNvSpPr/>
          <p:nvPr/>
        </p:nvSpPr>
        <p:spPr>
          <a:xfrm>
            <a:off x="-1" y="-31744"/>
            <a:ext cx="5306907" cy="6490872"/>
          </a:xfrm>
          <a:prstGeom prst="rect">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sp>
        <p:nvSpPr>
          <p:cNvPr id="38" name="Google Shape;38;p32"/>
          <p:cNvSpPr txBox="1"/>
          <p:nvPr>
            <p:ph type="title"/>
          </p:nvPr>
        </p:nvSpPr>
        <p:spPr>
          <a:xfrm>
            <a:off x="628650" y="365126"/>
            <a:ext cx="4004733" cy="3044058"/>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2"/>
          <p:cNvSpPr txBox="1"/>
          <p:nvPr>
            <p:ph idx="1" type="body"/>
          </p:nvPr>
        </p:nvSpPr>
        <p:spPr>
          <a:xfrm>
            <a:off x="628650" y="3607755"/>
            <a:ext cx="4004733" cy="1660818"/>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800"/>
              <a:buNone/>
              <a:defRPr sz="1800">
                <a:solidFill>
                  <a:schemeClr val="dk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2pPr>
            <a:lvl3pPr indent="-228600" lvl="2" marL="13716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3pPr>
            <a:lvl4pPr indent="-228600" lvl="3" marL="18288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4pPr>
            <a:lvl5pPr indent="-228600" lvl="4" marL="22860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0" name="Google Shape;40;p32"/>
          <p:cNvGrpSpPr/>
          <p:nvPr/>
        </p:nvGrpSpPr>
        <p:grpSpPr>
          <a:xfrm>
            <a:off x="0" y="6396465"/>
            <a:ext cx="9144000" cy="470918"/>
            <a:chOff x="0" y="6396465"/>
            <a:chExt cx="9144000" cy="470918"/>
          </a:xfrm>
        </p:grpSpPr>
        <p:sp>
          <p:nvSpPr>
            <p:cNvPr id="41" name="Google Shape;41;p32"/>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42" name="Google Shape;42;p32"/>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43" name="Google Shape;43;p32"/>
            <p:cNvPicPr preferRelativeResize="0"/>
            <p:nvPr/>
          </p:nvPicPr>
          <p:blipFill rotWithShape="1">
            <a:blip r:embed="rId3">
              <a:alphaModFix/>
            </a:blip>
            <a:srcRect b="0" l="0" r="0" t="0"/>
            <a:stretch/>
          </p:blipFill>
          <p:spPr>
            <a:xfrm>
              <a:off x="496296" y="6409934"/>
              <a:ext cx="2094393" cy="451789"/>
            </a:xfrm>
            <a:prstGeom prst="rect">
              <a:avLst/>
            </a:prstGeom>
            <a:noFill/>
            <a:ln>
              <a:noFill/>
            </a:ln>
          </p:spPr>
        </p:pic>
        <p:pic>
          <p:nvPicPr>
            <p:cNvPr id="44" name="Google Shape;44;p32"/>
            <p:cNvPicPr preferRelativeResize="0"/>
            <p:nvPr/>
          </p:nvPicPr>
          <p:blipFill rotWithShape="1">
            <a:blip r:embed="rId4">
              <a:alphaModFix/>
            </a:blip>
            <a:srcRect b="0" l="0" r="0" t="0"/>
            <a:stretch/>
          </p:blipFill>
          <p:spPr>
            <a:xfrm>
              <a:off x="3903217" y="6398195"/>
              <a:ext cx="2088055" cy="462356"/>
            </a:xfrm>
            <a:prstGeom prst="rect">
              <a:avLst/>
            </a:prstGeom>
            <a:noFill/>
            <a:ln>
              <a:noFill/>
            </a:ln>
          </p:spPr>
        </p:pic>
        <p:pic>
          <p:nvPicPr>
            <p:cNvPr id="45" name="Google Shape;45;p32"/>
            <p:cNvPicPr preferRelativeResize="0"/>
            <p:nvPr/>
          </p:nvPicPr>
          <p:blipFill rotWithShape="1">
            <a:blip r:embed="rId5">
              <a:alphaModFix/>
            </a:blip>
            <a:srcRect b="0" l="0" r="0" t="0"/>
            <a:stretch/>
          </p:blipFill>
          <p:spPr>
            <a:xfrm>
              <a:off x="2555997" y="6413546"/>
              <a:ext cx="2040333" cy="450968"/>
            </a:xfrm>
            <a:prstGeom prst="rect">
              <a:avLst/>
            </a:prstGeom>
            <a:noFill/>
            <a:ln>
              <a:noFill/>
            </a:ln>
          </p:spPr>
        </p:pic>
        <p:cxnSp>
          <p:nvCxnSpPr>
            <p:cNvPr id="46" name="Google Shape;46;p32"/>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47" name="Google Shape;47;p32"/>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ey Shield" showMasterSp="0">
  <p:cSld name="Title Slide Grey Shield">
    <p:spTree>
      <p:nvGrpSpPr>
        <p:cNvPr id="48" name="Shape 48"/>
        <p:cNvGrpSpPr/>
        <p:nvPr/>
      </p:nvGrpSpPr>
      <p:grpSpPr>
        <a:xfrm>
          <a:off x="0" y="0"/>
          <a:ext cx="0" cy="0"/>
          <a:chOff x="0" y="0"/>
          <a:chExt cx="0" cy="0"/>
        </a:xfrm>
      </p:grpSpPr>
      <p:grpSp>
        <p:nvGrpSpPr>
          <p:cNvPr id="49" name="Google Shape;49;p33"/>
          <p:cNvGrpSpPr/>
          <p:nvPr/>
        </p:nvGrpSpPr>
        <p:grpSpPr>
          <a:xfrm>
            <a:off x="3911642" y="-2100917"/>
            <a:ext cx="8384488" cy="10850515"/>
            <a:chOff x="3946487" y="-2045539"/>
            <a:chExt cx="8193228" cy="10603002"/>
          </a:xfrm>
        </p:grpSpPr>
        <p:pic>
          <p:nvPicPr>
            <p:cNvPr id="50" name="Google Shape;50;p33"/>
            <p:cNvPicPr preferRelativeResize="0"/>
            <p:nvPr/>
          </p:nvPicPr>
          <p:blipFill rotWithShape="1">
            <a:blip r:embed="rId2">
              <a:alphaModFix amt="30000"/>
            </a:blip>
            <a:srcRect b="0" l="0" r="0" t="0"/>
            <a:stretch/>
          </p:blipFill>
          <p:spPr>
            <a:xfrm>
              <a:off x="3946487" y="-2045539"/>
              <a:ext cx="8193228" cy="10603002"/>
            </a:xfrm>
            <a:prstGeom prst="rect">
              <a:avLst/>
            </a:prstGeom>
            <a:noFill/>
            <a:ln>
              <a:noFill/>
            </a:ln>
          </p:spPr>
        </p:pic>
        <p:pic>
          <p:nvPicPr>
            <p:cNvPr id="51" name="Google Shape;51;p33"/>
            <p:cNvPicPr preferRelativeResize="0"/>
            <p:nvPr/>
          </p:nvPicPr>
          <p:blipFill rotWithShape="1">
            <a:blip r:embed="rId3">
              <a:alphaModFix amt="15000"/>
            </a:blip>
            <a:srcRect b="0" l="0" r="0" t="0"/>
            <a:stretch/>
          </p:blipFill>
          <p:spPr>
            <a:xfrm>
              <a:off x="5173001" y="758028"/>
              <a:ext cx="5641848" cy="4936616"/>
            </a:xfrm>
            <a:prstGeom prst="rect">
              <a:avLst/>
            </a:prstGeom>
            <a:noFill/>
            <a:ln>
              <a:noFill/>
            </a:ln>
          </p:spPr>
        </p:pic>
      </p:grpSp>
      <p:sp>
        <p:nvSpPr>
          <p:cNvPr id="52" name="Google Shape;52;p33"/>
          <p:cNvSpPr txBox="1"/>
          <p:nvPr>
            <p:ph type="title"/>
          </p:nvPr>
        </p:nvSpPr>
        <p:spPr>
          <a:xfrm>
            <a:off x="628649" y="365126"/>
            <a:ext cx="4005072" cy="304495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3"/>
          <p:cNvSpPr txBox="1"/>
          <p:nvPr>
            <p:ph idx="1" type="body"/>
          </p:nvPr>
        </p:nvSpPr>
        <p:spPr>
          <a:xfrm>
            <a:off x="628650" y="3607755"/>
            <a:ext cx="4004733" cy="1660818"/>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800"/>
              <a:buNone/>
              <a:defRPr sz="18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2pPr>
            <a:lvl3pPr indent="-228600" lvl="2" marL="13716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3pPr>
            <a:lvl4pPr indent="-228600" lvl="3" marL="18288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4pPr>
            <a:lvl5pPr indent="-228600" lvl="4" marL="22860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54" name="Google Shape;54;p33"/>
          <p:cNvGrpSpPr/>
          <p:nvPr/>
        </p:nvGrpSpPr>
        <p:grpSpPr>
          <a:xfrm>
            <a:off x="0" y="6396465"/>
            <a:ext cx="9144000" cy="470918"/>
            <a:chOff x="0" y="6396465"/>
            <a:chExt cx="9144000" cy="470918"/>
          </a:xfrm>
        </p:grpSpPr>
        <p:sp>
          <p:nvSpPr>
            <p:cNvPr id="55" name="Google Shape;55;p33"/>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56" name="Google Shape;56;p33"/>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57" name="Google Shape;57;p33"/>
            <p:cNvPicPr preferRelativeResize="0"/>
            <p:nvPr/>
          </p:nvPicPr>
          <p:blipFill rotWithShape="1">
            <a:blip r:embed="rId4">
              <a:alphaModFix/>
            </a:blip>
            <a:srcRect b="0" l="0" r="0" t="0"/>
            <a:stretch/>
          </p:blipFill>
          <p:spPr>
            <a:xfrm>
              <a:off x="496296" y="6409934"/>
              <a:ext cx="2094393" cy="451789"/>
            </a:xfrm>
            <a:prstGeom prst="rect">
              <a:avLst/>
            </a:prstGeom>
            <a:noFill/>
            <a:ln>
              <a:noFill/>
            </a:ln>
          </p:spPr>
        </p:pic>
        <p:pic>
          <p:nvPicPr>
            <p:cNvPr id="58" name="Google Shape;58;p33"/>
            <p:cNvPicPr preferRelativeResize="0"/>
            <p:nvPr/>
          </p:nvPicPr>
          <p:blipFill rotWithShape="1">
            <a:blip r:embed="rId5">
              <a:alphaModFix/>
            </a:blip>
            <a:srcRect b="0" l="0" r="0" t="0"/>
            <a:stretch/>
          </p:blipFill>
          <p:spPr>
            <a:xfrm>
              <a:off x="3903217" y="6398195"/>
              <a:ext cx="2088055" cy="462356"/>
            </a:xfrm>
            <a:prstGeom prst="rect">
              <a:avLst/>
            </a:prstGeom>
            <a:noFill/>
            <a:ln>
              <a:noFill/>
            </a:ln>
          </p:spPr>
        </p:pic>
        <p:pic>
          <p:nvPicPr>
            <p:cNvPr id="59" name="Google Shape;59;p33"/>
            <p:cNvPicPr preferRelativeResize="0"/>
            <p:nvPr/>
          </p:nvPicPr>
          <p:blipFill rotWithShape="1">
            <a:blip r:embed="rId6">
              <a:alphaModFix/>
            </a:blip>
            <a:srcRect b="0" l="0" r="0" t="0"/>
            <a:stretch/>
          </p:blipFill>
          <p:spPr>
            <a:xfrm>
              <a:off x="2555997" y="6413546"/>
              <a:ext cx="2040333" cy="450968"/>
            </a:xfrm>
            <a:prstGeom prst="rect">
              <a:avLst/>
            </a:prstGeom>
            <a:noFill/>
            <a:ln>
              <a:noFill/>
            </a:ln>
          </p:spPr>
        </p:pic>
        <p:cxnSp>
          <p:nvCxnSpPr>
            <p:cNvPr id="60" name="Google Shape;60;p33"/>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61" name="Google Shape;61;p33"/>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ey Phoenix" showMasterSp="0">
  <p:cSld name="Title Slide Grey Phoenix">
    <p:spTree>
      <p:nvGrpSpPr>
        <p:cNvPr id="62" name="Shape 62"/>
        <p:cNvGrpSpPr/>
        <p:nvPr/>
      </p:nvGrpSpPr>
      <p:grpSpPr>
        <a:xfrm>
          <a:off x="0" y="0"/>
          <a:ext cx="0" cy="0"/>
          <a:chOff x="0" y="0"/>
          <a:chExt cx="0" cy="0"/>
        </a:xfrm>
      </p:grpSpPr>
      <p:pic>
        <p:nvPicPr>
          <p:cNvPr id="63" name="Google Shape;63;p34"/>
          <p:cNvPicPr preferRelativeResize="0"/>
          <p:nvPr/>
        </p:nvPicPr>
        <p:blipFill rotWithShape="1">
          <a:blip r:embed="rId2">
            <a:alphaModFix amt="15000"/>
          </a:blip>
          <a:srcRect b="0" l="0" r="0" t="0"/>
          <a:stretch/>
        </p:blipFill>
        <p:spPr>
          <a:xfrm>
            <a:off x="5166787" y="768096"/>
            <a:ext cx="5773549" cy="5051855"/>
          </a:xfrm>
          <a:prstGeom prst="rect">
            <a:avLst/>
          </a:prstGeom>
          <a:noFill/>
          <a:ln>
            <a:noFill/>
          </a:ln>
        </p:spPr>
      </p:pic>
      <p:sp>
        <p:nvSpPr>
          <p:cNvPr id="64" name="Google Shape;64;p34"/>
          <p:cNvSpPr txBox="1"/>
          <p:nvPr>
            <p:ph type="title"/>
          </p:nvPr>
        </p:nvSpPr>
        <p:spPr>
          <a:xfrm>
            <a:off x="628650" y="365126"/>
            <a:ext cx="4004733" cy="3044058"/>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4"/>
          <p:cNvSpPr txBox="1"/>
          <p:nvPr>
            <p:ph idx="1" type="body"/>
          </p:nvPr>
        </p:nvSpPr>
        <p:spPr>
          <a:xfrm>
            <a:off x="628650" y="3607755"/>
            <a:ext cx="4004733" cy="1660818"/>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800"/>
              <a:buNone/>
              <a:defRPr sz="18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2pPr>
            <a:lvl3pPr indent="-228600" lvl="2" marL="13716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3pPr>
            <a:lvl4pPr indent="-228600" lvl="3" marL="18288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4pPr>
            <a:lvl5pPr indent="-228600" lvl="4" marL="22860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6" name="Google Shape;66;p34"/>
          <p:cNvGrpSpPr/>
          <p:nvPr/>
        </p:nvGrpSpPr>
        <p:grpSpPr>
          <a:xfrm>
            <a:off x="0" y="6396465"/>
            <a:ext cx="9144000" cy="470918"/>
            <a:chOff x="0" y="6396465"/>
            <a:chExt cx="9144000" cy="470918"/>
          </a:xfrm>
        </p:grpSpPr>
        <p:sp>
          <p:nvSpPr>
            <p:cNvPr id="67" name="Google Shape;67;p34"/>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68" name="Google Shape;68;p34"/>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69" name="Google Shape;69;p34"/>
            <p:cNvPicPr preferRelativeResize="0"/>
            <p:nvPr/>
          </p:nvPicPr>
          <p:blipFill rotWithShape="1">
            <a:blip r:embed="rId3">
              <a:alphaModFix/>
            </a:blip>
            <a:srcRect b="0" l="0" r="0" t="0"/>
            <a:stretch/>
          </p:blipFill>
          <p:spPr>
            <a:xfrm>
              <a:off x="496296" y="6409934"/>
              <a:ext cx="2094393" cy="451789"/>
            </a:xfrm>
            <a:prstGeom prst="rect">
              <a:avLst/>
            </a:prstGeom>
            <a:noFill/>
            <a:ln>
              <a:noFill/>
            </a:ln>
          </p:spPr>
        </p:pic>
        <p:pic>
          <p:nvPicPr>
            <p:cNvPr id="70" name="Google Shape;70;p34"/>
            <p:cNvPicPr preferRelativeResize="0"/>
            <p:nvPr/>
          </p:nvPicPr>
          <p:blipFill rotWithShape="1">
            <a:blip r:embed="rId4">
              <a:alphaModFix/>
            </a:blip>
            <a:srcRect b="0" l="0" r="0" t="0"/>
            <a:stretch/>
          </p:blipFill>
          <p:spPr>
            <a:xfrm>
              <a:off x="3903217" y="6398195"/>
              <a:ext cx="2088055" cy="462356"/>
            </a:xfrm>
            <a:prstGeom prst="rect">
              <a:avLst/>
            </a:prstGeom>
            <a:noFill/>
            <a:ln>
              <a:noFill/>
            </a:ln>
          </p:spPr>
        </p:pic>
        <p:pic>
          <p:nvPicPr>
            <p:cNvPr id="71" name="Google Shape;71;p34"/>
            <p:cNvPicPr preferRelativeResize="0"/>
            <p:nvPr/>
          </p:nvPicPr>
          <p:blipFill rotWithShape="1">
            <a:blip r:embed="rId5">
              <a:alphaModFix/>
            </a:blip>
            <a:srcRect b="0" l="0" r="0" t="0"/>
            <a:stretch/>
          </p:blipFill>
          <p:spPr>
            <a:xfrm>
              <a:off x="2555997" y="6413546"/>
              <a:ext cx="2040333" cy="450968"/>
            </a:xfrm>
            <a:prstGeom prst="rect">
              <a:avLst/>
            </a:prstGeom>
            <a:noFill/>
            <a:ln>
              <a:noFill/>
            </a:ln>
          </p:spPr>
        </p:pic>
        <p:cxnSp>
          <p:nvCxnSpPr>
            <p:cNvPr id="72" name="Google Shape;72;p34"/>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73" name="Google Shape;73;p34"/>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Dark Greystone" showMasterSp="0">
  <p:cSld name="Title Slide Dark Greystone">
    <p:bg>
      <p:bgPr>
        <a:solidFill>
          <a:schemeClr val="dk2"/>
        </a:solidFill>
      </p:bgPr>
    </p:bg>
    <p:spTree>
      <p:nvGrpSpPr>
        <p:cNvPr id="74" name="Shape 74"/>
        <p:cNvGrpSpPr/>
        <p:nvPr/>
      </p:nvGrpSpPr>
      <p:grpSpPr>
        <a:xfrm>
          <a:off x="0" y="0"/>
          <a:ext cx="0" cy="0"/>
          <a:chOff x="0" y="0"/>
          <a:chExt cx="0" cy="0"/>
        </a:xfrm>
      </p:grpSpPr>
      <p:grpSp>
        <p:nvGrpSpPr>
          <p:cNvPr id="75" name="Google Shape;75;p35"/>
          <p:cNvGrpSpPr/>
          <p:nvPr/>
        </p:nvGrpSpPr>
        <p:grpSpPr>
          <a:xfrm>
            <a:off x="5166360" y="0"/>
            <a:ext cx="5773549" cy="6400800"/>
            <a:chOff x="5156004" y="0"/>
            <a:chExt cx="5773549" cy="6400800"/>
          </a:xfrm>
        </p:grpSpPr>
        <p:sp>
          <p:nvSpPr>
            <p:cNvPr id="76" name="Google Shape;76;p35"/>
            <p:cNvSpPr/>
            <p:nvPr/>
          </p:nvSpPr>
          <p:spPr>
            <a:xfrm>
              <a:off x="5303520" y="0"/>
              <a:ext cx="3840480" cy="6400800"/>
            </a:xfrm>
            <a:prstGeom prst="rect">
              <a:avLst/>
            </a:prstGeom>
            <a:solidFill>
              <a:srgbClr val="A6A6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77" name="Google Shape;77;p35"/>
            <p:cNvPicPr preferRelativeResize="0"/>
            <p:nvPr/>
          </p:nvPicPr>
          <p:blipFill rotWithShape="1">
            <a:blip r:embed="rId2">
              <a:alphaModFix amt="30000"/>
            </a:blip>
            <a:srcRect b="0" l="0" r="0" t="0"/>
            <a:stretch/>
          </p:blipFill>
          <p:spPr>
            <a:xfrm>
              <a:off x="5156004" y="768096"/>
              <a:ext cx="5773549" cy="5051855"/>
            </a:xfrm>
            <a:prstGeom prst="rect">
              <a:avLst/>
            </a:prstGeom>
            <a:noFill/>
            <a:ln>
              <a:noFill/>
            </a:ln>
          </p:spPr>
        </p:pic>
      </p:grpSp>
      <p:sp>
        <p:nvSpPr>
          <p:cNvPr id="78" name="Google Shape;78;p35"/>
          <p:cNvSpPr txBox="1"/>
          <p:nvPr>
            <p:ph type="title"/>
          </p:nvPr>
        </p:nvSpPr>
        <p:spPr>
          <a:xfrm>
            <a:off x="628649" y="365126"/>
            <a:ext cx="4005072" cy="3044058"/>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3600"/>
              <a:buFont typeface="Helvetica Neue"/>
              <a:buNone/>
              <a:defRPr sz="3600">
                <a:solidFill>
                  <a:schemeClr val="l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5"/>
          <p:cNvSpPr txBox="1"/>
          <p:nvPr>
            <p:ph idx="1" type="body"/>
          </p:nvPr>
        </p:nvSpPr>
        <p:spPr>
          <a:xfrm>
            <a:off x="628650" y="3607755"/>
            <a:ext cx="4004733" cy="1660818"/>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800"/>
              <a:buNone/>
              <a:defRPr sz="1800">
                <a:solidFill>
                  <a:schemeClr val="lt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2pPr>
            <a:lvl3pPr indent="-228600" lvl="2" marL="13716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3pPr>
            <a:lvl4pPr indent="-228600" lvl="3" marL="18288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4pPr>
            <a:lvl5pPr indent="-228600" lvl="4" marL="22860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0" name="Google Shape;80;p35"/>
          <p:cNvGrpSpPr/>
          <p:nvPr/>
        </p:nvGrpSpPr>
        <p:grpSpPr>
          <a:xfrm>
            <a:off x="0" y="6396465"/>
            <a:ext cx="9144000" cy="470918"/>
            <a:chOff x="0" y="6396465"/>
            <a:chExt cx="9144000" cy="470918"/>
          </a:xfrm>
        </p:grpSpPr>
        <p:sp>
          <p:nvSpPr>
            <p:cNvPr id="81" name="Google Shape;81;p35"/>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82" name="Google Shape;82;p35"/>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83" name="Google Shape;83;p35"/>
            <p:cNvPicPr preferRelativeResize="0"/>
            <p:nvPr/>
          </p:nvPicPr>
          <p:blipFill rotWithShape="1">
            <a:blip r:embed="rId3">
              <a:alphaModFix/>
            </a:blip>
            <a:srcRect b="0" l="0" r="0" t="0"/>
            <a:stretch/>
          </p:blipFill>
          <p:spPr>
            <a:xfrm>
              <a:off x="496296" y="6409934"/>
              <a:ext cx="2094393" cy="451789"/>
            </a:xfrm>
            <a:prstGeom prst="rect">
              <a:avLst/>
            </a:prstGeom>
            <a:noFill/>
            <a:ln>
              <a:noFill/>
            </a:ln>
          </p:spPr>
        </p:pic>
        <p:pic>
          <p:nvPicPr>
            <p:cNvPr id="84" name="Google Shape;84;p35"/>
            <p:cNvPicPr preferRelativeResize="0"/>
            <p:nvPr/>
          </p:nvPicPr>
          <p:blipFill rotWithShape="1">
            <a:blip r:embed="rId4">
              <a:alphaModFix/>
            </a:blip>
            <a:srcRect b="0" l="0" r="0" t="0"/>
            <a:stretch/>
          </p:blipFill>
          <p:spPr>
            <a:xfrm>
              <a:off x="3903217" y="6398195"/>
              <a:ext cx="2088055" cy="462356"/>
            </a:xfrm>
            <a:prstGeom prst="rect">
              <a:avLst/>
            </a:prstGeom>
            <a:noFill/>
            <a:ln>
              <a:noFill/>
            </a:ln>
          </p:spPr>
        </p:pic>
        <p:pic>
          <p:nvPicPr>
            <p:cNvPr id="85" name="Google Shape;85;p35"/>
            <p:cNvPicPr preferRelativeResize="0"/>
            <p:nvPr/>
          </p:nvPicPr>
          <p:blipFill rotWithShape="1">
            <a:blip r:embed="rId5">
              <a:alphaModFix/>
            </a:blip>
            <a:srcRect b="0" l="0" r="0" t="0"/>
            <a:stretch/>
          </p:blipFill>
          <p:spPr>
            <a:xfrm>
              <a:off x="2555997" y="6413546"/>
              <a:ext cx="2040333" cy="450968"/>
            </a:xfrm>
            <a:prstGeom prst="rect">
              <a:avLst/>
            </a:prstGeom>
            <a:noFill/>
            <a:ln>
              <a:noFill/>
            </a:ln>
          </p:spPr>
        </p:pic>
        <p:cxnSp>
          <p:nvCxnSpPr>
            <p:cNvPr id="86" name="Google Shape;86;p35"/>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87" name="Google Shape;87;p35"/>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Greystone" showMasterSp="0">
  <p:cSld name="Section Header Light Greystone">
    <p:bg>
      <p:bgPr>
        <a:solidFill>
          <a:schemeClr val="lt2"/>
        </a:solidFill>
      </p:bgPr>
    </p:bg>
    <p:spTree>
      <p:nvGrpSpPr>
        <p:cNvPr id="88" name="Shape 88"/>
        <p:cNvGrpSpPr/>
        <p:nvPr/>
      </p:nvGrpSpPr>
      <p:grpSpPr>
        <a:xfrm>
          <a:off x="0" y="0"/>
          <a:ext cx="0" cy="0"/>
          <a:chOff x="0" y="0"/>
          <a:chExt cx="0" cy="0"/>
        </a:xfrm>
      </p:grpSpPr>
      <p:grpSp>
        <p:nvGrpSpPr>
          <p:cNvPr id="89" name="Google Shape;89;p36"/>
          <p:cNvGrpSpPr/>
          <p:nvPr/>
        </p:nvGrpSpPr>
        <p:grpSpPr>
          <a:xfrm>
            <a:off x="0" y="6396465"/>
            <a:ext cx="9144000" cy="470918"/>
            <a:chOff x="0" y="6396465"/>
            <a:chExt cx="9144000" cy="470918"/>
          </a:xfrm>
        </p:grpSpPr>
        <p:sp>
          <p:nvSpPr>
            <p:cNvPr id="90" name="Google Shape;90;p36"/>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91" name="Google Shape;91;p36"/>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92" name="Google Shape;92;p36"/>
            <p:cNvPicPr preferRelativeResize="0"/>
            <p:nvPr/>
          </p:nvPicPr>
          <p:blipFill rotWithShape="1">
            <a:blip r:embed="rId2">
              <a:alphaModFix/>
            </a:blip>
            <a:srcRect b="0" l="0" r="0" t="0"/>
            <a:stretch/>
          </p:blipFill>
          <p:spPr>
            <a:xfrm>
              <a:off x="496296" y="6409934"/>
              <a:ext cx="2094393" cy="451789"/>
            </a:xfrm>
            <a:prstGeom prst="rect">
              <a:avLst/>
            </a:prstGeom>
            <a:noFill/>
            <a:ln>
              <a:noFill/>
            </a:ln>
          </p:spPr>
        </p:pic>
        <p:pic>
          <p:nvPicPr>
            <p:cNvPr id="93" name="Google Shape;93;p36"/>
            <p:cNvPicPr preferRelativeResize="0"/>
            <p:nvPr/>
          </p:nvPicPr>
          <p:blipFill rotWithShape="1">
            <a:blip r:embed="rId3">
              <a:alphaModFix/>
            </a:blip>
            <a:srcRect b="0" l="0" r="0" t="0"/>
            <a:stretch/>
          </p:blipFill>
          <p:spPr>
            <a:xfrm>
              <a:off x="3903217" y="6398195"/>
              <a:ext cx="2088055" cy="462356"/>
            </a:xfrm>
            <a:prstGeom prst="rect">
              <a:avLst/>
            </a:prstGeom>
            <a:noFill/>
            <a:ln>
              <a:noFill/>
            </a:ln>
          </p:spPr>
        </p:pic>
        <p:pic>
          <p:nvPicPr>
            <p:cNvPr id="94" name="Google Shape;94;p36"/>
            <p:cNvPicPr preferRelativeResize="0"/>
            <p:nvPr/>
          </p:nvPicPr>
          <p:blipFill rotWithShape="1">
            <a:blip r:embed="rId4">
              <a:alphaModFix/>
            </a:blip>
            <a:srcRect b="0" l="0" r="0" t="0"/>
            <a:stretch/>
          </p:blipFill>
          <p:spPr>
            <a:xfrm>
              <a:off x="2555997" y="6413546"/>
              <a:ext cx="2040333" cy="450968"/>
            </a:xfrm>
            <a:prstGeom prst="rect">
              <a:avLst/>
            </a:prstGeom>
            <a:noFill/>
            <a:ln>
              <a:noFill/>
            </a:ln>
          </p:spPr>
        </p:pic>
        <p:cxnSp>
          <p:nvCxnSpPr>
            <p:cNvPr id="95" name="Google Shape;95;p36"/>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96" name="Google Shape;96;p36"/>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
        <p:nvSpPr>
          <p:cNvPr id="97" name="Google Shape;97;p36"/>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pic>
        <p:nvPicPr>
          <p:cNvPr id="98" name="Google Shape;98;p36"/>
          <p:cNvPicPr preferRelativeResize="0"/>
          <p:nvPr/>
        </p:nvPicPr>
        <p:blipFill rotWithShape="1">
          <a:blip r:embed="rId5">
            <a:alphaModFix amt="25000"/>
          </a:blip>
          <a:srcRect b="0" l="0" r="0" t="0"/>
          <a:stretch/>
        </p:blipFill>
        <p:spPr>
          <a:xfrm>
            <a:off x="6328664" y="0"/>
            <a:ext cx="3836416" cy="3356864"/>
          </a:xfrm>
          <a:prstGeom prst="rect">
            <a:avLst/>
          </a:prstGeom>
          <a:noFill/>
          <a:ln>
            <a:noFill/>
          </a:ln>
        </p:spPr>
      </p:pic>
      <p:sp>
        <p:nvSpPr>
          <p:cNvPr id="99" name="Google Shape;99;p36"/>
          <p:cNvSpPr txBox="1"/>
          <p:nvPr>
            <p:ph type="title"/>
          </p:nvPr>
        </p:nvSpPr>
        <p:spPr>
          <a:xfrm>
            <a:off x="623888" y="2771779"/>
            <a:ext cx="7891462" cy="177219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6"/>
          <p:cNvSpPr txBox="1"/>
          <p:nvPr>
            <p:ph idx="1" type="body"/>
          </p:nvPr>
        </p:nvSpPr>
        <p:spPr>
          <a:xfrm>
            <a:off x="633412" y="4625182"/>
            <a:ext cx="7877176" cy="1261268"/>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sz="1800">
                <a:solidFill>
                  <a:schemeClr val="dk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a:lvl2pPr>
            <a:lvl3pPr indent="-228600" lvl="2" marL="1371600" algn="l">
              <a:lnSpc>
                <a:spcPct val="90000"/>
              </a:lnSpc>
              <a:spcBef>
                <a:spcPts val="500"/>
              </a:spcBef>
              <a:spcAft>
                <a:spcPts val="0"/>
              </a:spcAft>
              <a:buSzPts val="1800"/>
              <a:buNone/>
              <a:defRPr/>
            </a:lvl3pPr>
            <a:lvl4pPr indent="-228600" lvl="3" marL="1828800" algn="l">
              <a:lnSpc>
                <a:spcPct val="90000"/>
              </a:lnSpc>
              <a:spcBef>
                <a:spcPts val="500"/>
              </a:spcBef>
              <a:spcAft>
                <a:spcPts val="0"/>
              </a:spcAft>
              <a:buSzPts val="1600"/>
              <a:buNone/>
              <a:defRPr/>
            </a:lvl4pPr>
            <a:lvl5pPr indent="-228600" lvl="4" marL="2286000" algn="l">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 showMasterSp="0">
  <p:cSld name="Section Header White">
    <p:bg>
      <p:bgPr>
        <a:solidFill>
          <a:schemeClr val="lt1"/>
        </a:solidFill>
      </p:bgPr>
    </p:bg>
    <p:spTree>
      <p:nvGrpSpPr>
        <p:cNvPr id="101" name="Shape 101"/>
        <p:cNvGrpSpPr/>
        <p:nvPr/>
      </p:nvGrpSpPr>
      <p:grpSpPr>
        <a:xfrm>
          <a:off x="0" y="0"/>
          <a:ext cx="0" cy="0"/>
          <a:chOff x="0" y="0"/>
          <a:chExt cx="0" cy="0"/>
        </a:xfrm>
      </p:grpSpPr>
      <p:grpSp>
        <p:nvGrpSpPr>
          <p:cNvPr id="102" name="Google Shape;102;p37"/>
          <p:cNvGrpSpPr/>
          <p:nvPr/>
        </p:nvGrpSpPr>
        <p:grpSpPr>
          <a:xfrm>
            <a:off x="0" y="6396465"/>
            <a:ext cx="9144000" cy="470918"/>
            <a:chOff x="0" y="6396465"/>
            <a:chExt cx="9144000" cy="470918"/>
          </a:xfrm>
        </p:grpSpPr>
        <p:sp>
          <p:nvSpPr>
            <p:cNvPr id="103" name="Google Shape;103;p37"/>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04" name="Google Shape;104;p37"/>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105" name="Google Shape;105;p37"/>
            <p:cNvPicPr preferRelativeResize="0"/>
            <p:nvPr/>
          </p:nvPicPr>
          <p:blipFill rotWithShape="1">
            <a:blip r:embed="rId2">
              <a:alphaModFix/>
            </a:blip>
            <a:srcRect b="0" l="0" r="0" t="0"/>
            <a:stretch/>
          </p:blipFill>
          <p:spPr>
            <a:xfrm>
              <a:off x="496296" y="6409934"/>
              <a:ext cx="2094393" cy="451789"/>
            </a:xfrm>
            <a:prstGeom prst="rect">
              <a:avLst/>
            </a:prstGeom>
            <a:noFill/>
            <a:ln>
              <a:noFill/>
            </a:ln>
          </p:spPr>
        </p:pic>
        <p:pic>
          <p:nvPicPr>
            <p:cNvPr id="106" name="Google Shape;106;p37"/>
            <p:cNvPicPr preferRelativeResize="0"/>
            <p:nvPr/>
          </p:nvPicPr>
          <p:blipFill rotWithShape="1">
            <a:blip r:embed="rId3">
              <a:alphaModFix/>
            </a:blip>
            <a:srcRect b="0" l="0" r="0" t="0"/>
            <a:stretch/>
          </p:blipFill>
          <p:spPr>
            <a:xfrm>
              <a:off x="3903217" y="6398195"/>
              <a:ext cx="2088055" cy="462356"/>
            </a:xfrm>
            <a:prstGeom prst="rect">
              <a:avLst/>
            </a:prstGeom>
            <a:noFill/>
            <a:ln>
              <a:noFill/>
            </a:ln>
          </p:spPr>
        </p:pic>
        <p:pic>
          <p:nvPicPr>
            <p:cNvPr id="107" name="Google Shape;107;p37"/>
            <p:cNvPicPr preferRelativeResize="0"/>
            <p:nvPr/>
          </p:nvPicPr>
          <p:blipFill rotWithShape="1">
            <a:blip r:embed="rId4">
              <a:alphaModFix/>
            </a:blip>
            <a:srcRect b="0" l="0" r="0" t="0"/>
            <a:stretch/>
          </p:blipFill>
          <p:spPr>
            <a:xfrm>
              <a:off x="2555997" y="6413546"/>
              <a:ext cx="2040333" cy="450968"/>
            </a:xfrm>
            <a:prstGeom prst="rect">
              <a:avLst/>
            </a:prstGeom>
            <a:noFill/>
            <a:ln>
              <a:noFill/>
            </a:ln>
          </p:spPr>
        </p:pic>
        <p:cxnSp>
          <p:nvCxnSpPr>
            <p:cNvPr id="108" name="Google Shape;108;p37"/>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109" name="Google Shape;109;p37"/>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pic>
        <p:nvPicPr>
          <p:cNvPr id="110" name="Google Shape;110;p37"/>
          <p:cNvPicPr preferRelativeResize="0"/>
          <p:nvPr/>
        </p:nvPicPr>
        <p:blipFill rotWithShape="1">
          <a:blip r:embed="rId5">
            <a:alphaModFix amt="10000"/>
          </a:blip>
          <a:srcRect b="0" l="0" r="0" t="0"/>
          <a:stretch/>
        </p:blipFill>
        <p:spPr>
          <a:xfrm>
            <a:off x="6328664" y="0"/>
            <a:ext cx="3836416" cy="3356864"/>
          </a:xfrm>
          <a:prstGeom prst="rect">
            <a:avLst/>
          </a:prstGeom>
          <a:noFill/>
          <a:ln>
            <a:noFill/>
          </a:ln>
        </p:spPr>
      </p:pic>
      <p:sp>
        <p:nvSpPr>
          <p:cNvPr id="111" name="Google Shape;111;p37"/>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sp>
        <p:nvSpPr>
          <p:cNvPr id="112" name="Google Shape;112;p37"/>
          <p:cNvSpPr txBox="1"/>
          <p:nvPr>
            <p:ph type="title"/>
          </p:nvPr>
        </p:nvSpPr>
        <p:spPr>
          <a:xfrm>
            <a:off x="623888" y="2771779"/>
            <a:ext cx="7891462" cy="177219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37"/>
          <p:cNvSpPr txBox="1"/>
          <p:nvPr>
            <p:ph idx="1" type="body"/>
          </p:nvPr>
        </p:nvSpPr>
        <p:spPr>
          <a:xfrm>
            <a:off x="633412" y="4625182"/>
            <a:ext cx="7877176" cy="1261268"/>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sz="18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a:lvl2pPr>
            <a:lvl3pPr indent="-228600" lvl="2" marL="1371600" algn="l">
              <a:lnSpc>
                <a:spcPct val="90000"/>
              </a:lnSpc>
              <a:spcBef>
                <a:spcPts val="500"/>
              </a:spcBef>
              <a:spcAft>
                <a:spcPts val="0"/>
              </a:spcAft>
              <a:buSzPts val="1800"/>
              <a:buNone/>
              <a:defRPr/>
            </a:lvl3pPr>
            <a:lvl4pPr indent="-228600" lvl="3" marL="1828800" algn="l">
              <a:lnSpc>
                <a:spcPct val="90000"/>
              </a:lnSpc>
              <a:spcBef>
                <a:spcPts val="500"/>
              </a:spcBef>
              <a:spcAft>
                <a:spcPts val="0"/>
              </a:spcAft>
              <a:buSzPts val="1600"/>
              <a:buNone/>
              <a:defRPr/>
            </a:lvl4pPr>
            <a:lvl5pPr indent="-228600" lvl="4" marL="2286000" algn="l">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aroon" showMasterSp="0">
  <p:cSld name="Section Header Maroon">
    <p:bg>
      <p:bgPr>
        <a:solidFill>
          <a:schemeClr val="accent1"/>
        </a:solidFill>
      </p:bgPr>
    </p:bg>
    <p:spTree>
      <p:nvGrpSpPr>
        <p:cNvPr id="114" name="Shape 114"/>
        <p:cNvGrpSpPr/>
        <p:nvPr/>
      </p:nvGrpSpPr>
      <p:grpSpPr>
        <a:xfrm>
          <a:off x="0" y="0"/>
          <a:ext cx="0" cy="0"/>
          <a:chOff x="0" y="0"/>
          <a:chExt cx="0" cy="0"/>
        </a:xfrm>
      </p:grpSpPr>
      <p:grpSp>
        <p:nvGrpSpPr>
          <p:cNvPr id="115" name="Google Shape;115;p38"/>
          <p:cNvGrpSpPr/>
          <p:nvPr/>
        </p:nvGrpSpPr>
        <p:grpSpPr>
          <a:xfrm>
            <a:off x="0" y="6396465"/>
            <a:ext cx="9144000" cy="470918"/>
            <a:chOff x="0" y="6396465"/>
            <a:chExt cx="9144000" cy="470918"/>
          </a:xfrm>
        </p:grpSpPr>
        <p:sp>
          <p:nvSpPr>
            <p:cNvPr id="116" name="Google Shape;116;p38"/>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17" name="Google Shape;117;p38"/>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118" name="Google Shape;118;p38"/>
            <p:cNvPicPr preferRelativeResize="0"/>
            <p:nvPr/>
          </p:nvPicPr>
          <p:blipFill rotWithShape="1">
            <a:blip r:embed="rId2">
              <a:alphaModFix/>
            </a:blip>
            <a:srcRect b="0" l="0" r="40504" t="0"/>
            <a:stretch/>
          </p:blipFill>
          <p:spPr>
            <a:xfrm>
              <a:off x="496298" y="6409925"/>
              <a:ext cx="1246102" cy="451800"/>
            </a:xfrm>
            <a:prstGeom prst="rect">
              <a:avLst/>
            </a:prstGeom>
            <a:noFill/>
            <a:ln>
              <a:noFill/>
            </a:ln>
          </p:spPr>
        </p:pic>
      </p:grpSp>
      <p:pic>
        <p:nvPicPr>
          <p:cNvPr id="119" name="Google Shape;119;p38"/>
          <p:cNvPicPr preferRelativeResize="0"/>
          <p:nvPr/>
        </p:nvPicPr>
        <p:blipFill rotWithShape="1">
          <a:blip r:embed="rId3">
            <a:alphaModFix amt="50000"/>
          </a:blip>
          <a:srcRect b="0" l="0" r="0" t="0"/>
          <a:stretch/>
        </p:blipFill>
        <p:spPr>
          <a:xfrm>
            <a:off x="6328664" y="0"/>
            <a:ext cx="3836416" cy="3356864"/>
          </a:xfrm>
          <a:prstGeom prst="rect">
            <a:avLst/>
          </a:prstGeom>
          <a:noFill/>
          <a:ln>
            <a:noFill/>
          </a:ln>
        </p:spPr>
      </p:pic>
      <p:sp>
        <p:nvSpPr>
          <p:cNvPr id="120" name="Google Shape;120;p38"/>
          <p:cNvSpPr txBox="1"/>
          <p:nvPr>
            <p:ph type="title"/>
          </p:nvPr>
        </p:nvSpPr>
        <p:spPr>
          <a:xfrm>
            <a:off x="623888" y="2771779"/>
            <a:ext cx="7891462" cy="177219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3600"/>
              <a:buFont typeface="Helvetica Neue"/>
              <a:buNone/>
              <a:defRPr sz="3600">
                <a:solidFill>
                  <a:schemeClr val="l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38"/>
          <p:cNvSpPr txBox="1"/>
          <p:nvPr>
            <p:ph idx="1" type="body"/>
          </p:nvPr>
        </p:nvSpPr>
        <p:spPr>
          <a:xfrm>
            <a:off x="633462" y="4543982"/>
            <a:ext cx="7877100" cy="12612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sz="1800">
                <a:solidFill>
                  <a:schemeClr val="lt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a:lvl2pPr>
            <a:lvl3pPr indent="-228600" lvl="2" marL="1371600" algn="l">
              <a:lnSpc>
                <a:spcPct val="90000"/>
              </a:lnSpc>
              <a:spcBef>
                <a:spcPts val="500"/>
              </a:spcBef>
              <a:spcAft>
                <a:spcPts val="0"/>
              </a:spcAft>
              <a:buSzPts val="1800"/>
              <a:buNone/>
              <a:defRPr/>
            </a:lvl3pPr>
            <a:lvl4pPr indent="-228600" lvl="3" marL="1828800" algn="l">
              <a:lnSpc>
                <a:spcPct val="90000"/>
              </a:lnSpc>
              <a:spcBef>
                <a:spcPts val="500"/>
              </a:spcBef>
              <a:spcAft>
                <a:spcPts val="0"/>
              </a:spcAft>
              <a:buSzPts val="1600"/>
              <a:buNone/>
              <a:defRPr/>
            </a:lvl4pPr>
            <a:lvl5pPr indent="-228600" lvl="4" marL="2286000" algn="l">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38"/>
          <p:cNvSpPr txBox="1"/>
          <p:nvPr/>
        </p:nvSpPr>
        <p:spPr>
          <a:xfrm>
            <a:off x="7803397" y="6441125"/>
            <a:ext cx="1312800" cy="417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00">
                <a:solidFill>
                  <a:schemeClr val="lt1"/>
                </a:solidFill>
                <a:latin typeface="Helvetica Neue"/>
                <a:ea typeface="Helvetica Neue"/>
                <a:cs typeface="Helvetica Neue"/>
                <a:sym typeface="Helvetica Neue"/>
              </a:rPr>
              <a:t>9 Dec 2025</a:t>
            </a:r>
            <a:endParaRPr sz="1300">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3" name="Shape 123"/>
        <p:cNvGrpSpPr/>
        <p:nvPr/>
      </p:nvGrpSpPr>
      <p:grpSpPr>
        <a:xfrm>
          <a:off x="0" y="0"/>
          <a:ext cx="0" cy="0"/>
          <a:chOff x="0" y="0"/>
          <a:chExt cx="0" cy="0"/>
        </a:xfrm>
      </p:grpSpPr>
      <p:sp>
        <p:nvSpPr>
          <p:cNvPr id="124" name="Google Shape;124;p39"/>
          <p:cNvSpPr txBox="1"/>
          <p:nvPr>
            <p:ph idx="1" type="body"/>
          </p:nvPr>
        </p:nvSpPr>
        <p:spPr>
          <a:xfrm>
            <a:off x="628650" y="2547619"/>
            <a:ext cx="3886200" cy="3642043"/>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1000"/>
              </a:spcBef>
              <a:spcAft>
                <a:spcPts val="0"/>
              </a:spcAft>
              <a:buSzPts val="2400"/>
              <a:buChar char="•"/>
              <a:defRPr sz="2400">
                <a:solidFill>
                  <a:schemeClr val="dk2"/>
                </a:solidFill>
                <a:latin typeface="Helvetica Neue"/>
                <a:ea typeface="Helvetica Neue"/>
                <a:cs typeface="Helvetica Neue"/>
                <a:sym typeface="Helvetica Neue"/>
              </a:defRPr>
            </a:lvl1pPr>
            <a:lvl2pPr indent="-355600" lvl="1" marL="914400" algn="l">
              <a:lnSpc>
                <a:spcPct val="90000"/>
              </a:lnSpc>
              <a:spcBef>
                <a:spcPts val="500"/>
              </a:spcBef>
              <a:spcAft>
                <a:spcPts val="0"/>
              </a:spcAft>
              <a:buSzPts val="2000"/>
              <a:buChar char="•"/>
              <a:defRPr sz="2000">
                <a:solidFill>
                  <a:schemeClr val="dk2"/>
                </a:solidFill>
                <a:latin typeface="Helvetica Neue"/>
                <a:ea typeface="Helvetica Neue"/>
                <a:cs typeface="Helvetica Neue"/>
                <a:sym typeface="Helvetica Neue"/>
              </a:defRPr>
            </a:lvl2pPr>
            <a:lvl3pPr indent="-342900" lvl="2" marL="1371600" algn="l">
              <a:lnSpc>
                <a:spcPct val="90000"/>
              </a:lnSpc>
              <a:spcBef>
                <a:spcPts val="500"/>
              </a:spcBef>
              <a:spcAft>
                <a:spcPts val="0"/>
              </a:spcAft>
              <a:buSzPts val="1800"/>
              <a:buChar char="•"/>
              <a:defRPr sz="1800">
                <a:solidFill>
                  <a:schemeClr val="dk2"/>
                </a:solidFill>
                <a:latin typeface="Helvetica Neue"/>
                <a:ea typeface="Helvetica Neue"/>
                <a:cs typeface="Helvetica Neue"/>
                <a:sym typeface="Helvetica Neue"/>
              </a:defRPr>
            </a:lvl3pPr>
            <a:lvl4pPr indent="-330200" lvl="3" marL="1828800" algn="l">
              <a:lnSpc>
                <a:spcPct val="90000"/>
              </a:lnSpc>
              <a:spcBef>
                <a:spcPts val="500"/>
              </a:spcBef>
              <a:spcAft>
                <a:spcPts val="0"/>
              </a:spcAft>
              <a:buSzPts val="1600"/>
              <a:buChar char="•"/>
              <a:defRPr sz="1600">
                <a:solidFill>
                  <a:schemeClr val="dk2"/>
                </a:solidFill>
                <a:latin typeface="Helvetica Neue"/>
                <a:ea typeface="Helvetica Neue"/>
                <a:cs typeface="Helvetica Neue"/>
                <a:sym typeface="Helvetica Neue"/>
              </a:defRPr>
            </a:lvl4pPr>
            <a:lvl5pPr indent="-317500" lvl="4" marL="2286000" algn="l">
              <a:lnSpc>
                <a:spcPct val="90000"/>
              </a:lnSpc>
              <a:spcBef>
                <a:spcPts val="500"/>
              </a:spcBef>
              <a:spcAft>
                <a:spcPts val="0"/>
              </a:spcAft>
              <a:buSzPts val="1400"/>
              <a:buChar char="•"/>
              <a:defRPr sz="14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39"/>
          <p:cNvSpPr txBox="1"/>
          <p:nvPr>
            <p:ph idx="2" type="body"/>
          </p:nvPr>
        </p:nvSpPr>
        <p:spPr>
          <a:xfrm>
            <a:off x="4644976" y="2547619"/>
            <a:ext cx="3886200" cy="3642043"/>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1000"/>
              </a:spcBef>
              <a:spcAft>
                <a:spcPts val="0"/>
              </a:spcAft>
              <a:buSzPts val="2400"/>
              <a:buChar char="•"/>
              <a:defRPr sz="2400">
                <a:solidFill>
                  <a:schemeClr val="dk2"/>
                </a:solidFill>
                <a:latin typeface="Helvetica Neue"/>
                <a:ea typeface="Helvetica Neue"/>
                <a:cs typeface="Helvetica Neue"/>
                <a:sym typeface="Helvetica Neue"/>
              </a:defRPr>
            </a:lvl1pPr>
            <a:lvl2pPr indent="-355600" lvl="1" marL="914400" algn="l">
              <a:lnSpc>
                <a:spcPct val="90000"/>
              </a:lnSpc>
              <a:spcBef>
                <a:spcPts val="500"/>
              </a:spcBef>
              <a:spcAft>
                <a:spcPts val="0"/>
              </a:spcAft>
              <a:buSzPts val="2000"/>
              <a:buChar char="•"/>
              <a:defRPr sz="2000">
                <a:solidFill>
                  <a:schemeClr val="dk2"/>
                </a:solidFill>
                <a:latin typeface="Helvetica Neue"/>
                <a:ea typeface="Helvetica Neue"/>
                <a:cs typeface="Helvetica Neue"/>
                <a:sym typeface="Helvetica Neue"/>
              </a:defRPr>
            </a:lvl2pPr>
            <a:lvl3pPr indent="-342900" lvl="2" marL="1371600" algn="l">
              <a:lnSpc>
                <a:spcPct val="90000"/>
              </a:lnSpc>
              <a:spcBef>
                <a:spcPts val="500"/>
              </a:spcBef>
              <a:spcAft>
                <a:spcPts val="0"/>
              </a:spcAft>
              <a:buSzPts val="1800"/>
              <a:buChar char="•"/>
              <a:defRPr sz="1800">
                <a:solidFill>
                  <a:schemeClr val="dk2"/>
                </a:solidFill>
                <a:latin typeface="Helvetica Neue"/>
                <a:ea typeface="Helvetica Neue"/>
                <a:cs typeface="Helvetica Neue"/>
                <a:sym typeface="Helvetica Neue"/>
              </a:defRPr>
            </a:lvl3pPr>
            <a:lvl4pPr indent="-330200" lvl="3" marL="1828800" algn="l">
              <a:lnSpc>
                <a:spcPct val="90000"/>
              </a:lnSpc>
              <a:spcBef>
                <a:spcPts val="500"/>
              </a:spcBef>
              <a:spcAft>
                <a:spcPts val="0"/>
              </a:spcAft>
              <a:buSzPts val="1600"/>
              <a:buChar char="•"/>
              <a:defRPr sz="1600">
                <a:solidFill>
                  <a:schemeClr val="dk2"/>
                </a:solidFill>
                <a:latin typeface="Helvetica Neue"/>
                <a:ea typeface="Helvetica Neue"/>
                <a:cs typeface="Helvetica Neue"/>
                <a:sym typeface="Helvetica Neue"/>
              </a:defRPr>
            </a:lvl4pPr>
            <a:lvl5pPr indent="-317500" lvl="4" marL="2286000" algn="l">
              <a:lnSpc>
                <a:spcPct val="90000"/>
              </a:lnSpc>
              <a:spcBef>
                <a:spcPts val="500"/>
              </a:spcBef>
              <a:spcAft>
                <a:spcPts val="0"/>
              </a:spcAft>
              <a:buSzPts val="1400"/>
              <a:buChar char="•"/>
              <a:defRPr sz="14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39"/>
          <p:cNvSpPr txBox="1"/>
          <p:nvPr>
            <p:ph idx="3" type="body"/>
          </p:nvPr>
        </p:nvSpPr>
        <p:spPr>
          <a:xfrm>
            <a:off x="629842" y="1681163"/>
            <a:ext cx="3868340" cy="823912"/>
          </a:xfrm>
          <a:prstGeom prst="rect">
            <a:avLst/>
          </a:prstGeom>
          <a:noFill/>
          <a:ln>
            <a:noFill/>
          </a:ln>
        </p:spPr>
        <p:txBody>
          <a:bodyPr anchorCtr="0" anchor="ctr" bIns="45700" lIns="0" spcFirstLastPara="1" rIns="0" wrap="square" tIns="45700">
            <a:normAutofit/>
          </a:bodyPr>
          <a:lstStyle>
            <a:lvl1pPr indent="-228600" lvl="0" marL="457200" algn="l">
              <a:lnSpc>
                <a:spcPct val="90000"/>
              </a:lnSpc>
              <a:spcBef>
                <a:spcPts val="1000"/>
              </a:spcBef>
              <a:spcAft>
                <a:spcPts val="0"/>
              </a:spcAft>
              <a:buSzPts val="1800"/>
              <a:buNone/>
              <a:defRPr b="1" sz="1800">
                <a:solidFill>
                  <a:schemeClr val="accent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7" name="Google Shape;127;p39"/>
          <p:cNvSpPr txBox="1"/>
          <p:nvPr>
            <p:ph idx="4" type="body"/>
          </p:nvPr>
        </p:nvSpPr>
        <p:spPr>
          <a:xfrm>
            <a:off x="4629150" y="1681163"/>
            <a:ext cx="3887391" cy="823912"/>
          </a:xfrm>
          <a:prstGeom prst="rect">
            <a:avLst/>
          </a:prstGeom>
          <a:noFill/>
          <a:ln>
            <a:noFill/>
          </a:ln>
        </p:spPr>
        <p:txBody>
          <a:bodyPr anchorCtr="0" anchor="ctr" bIns="45700" lIns="0" spcFirstLastPara="1" rIns="0" wrap="square" tIns="45700">
            <a:normAutofit/>
          </a:bodyPr>
          <a:lstStyle>
            <a:lvl1pPr indent="-228600" lvl="0" marL="457200" algn="l">
              <a:lnSpc>
                <a:spcPct val="90000"/>
              </a:lnSpc>
              <a:spcBef>
                <a:spcPts val="1000"/>
              </a:spcBef>
              <a:spcAft>
                <a:spcPts val="0"/>
              </a:spcAft>
              <a:buSzPts val="1800"/>
              <a:buNone/>
              <a:defRPr b="1" sz="1800">
                <a:solidFill>
                  <a:schemeClr val="accent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8" name="Google Shape;128;p39"/>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sp>
        <p:nvSpPr>
          <p:cNvPr id="129" name="Google Shape;129;p39"/>
          <p:cNvSpPr txBox="1"/>
          <p:nvPr>
            <p:ph type="title"/>
          </p:nvPr>
        </p:nvSpPr>
        <p:spPr>
          <a:xfrm>
            <a:off x="628650" y="6477"/>
            <a:ext cx="7886700" cy="1325563"/>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0" name="Shape 130"/>
        <p:cNvGrpSpPr/>
        <p:nvPr/>
      </p:nvGrpSpPr>
      <p:grpSpPr>
        <a:xfrm>
          <a:off x="0" y="0"/>
          <a:ext cx="0" cy="0"/>
          <a:chOff x="0" y="0"/>
          <a:chExt cx="0" cy="0"/>
        </a:xfrm>
      </p:grpSpPr>
      <p:sp>
        <p:nvSpPr>
          <p:cNvPr id="131" name="Google Shape;131;p40"/>
          <p:cNvSpPr txBox="1"/>
          <p:nvPr>
            <p:ph idx="1" type="body"/>
          </p:nvPr>
        </p:nvSpPr>
        <p:spPr>
          <a:xfrm>
            <a:off x="628650" y="1691640"/>
            <a:ext cx="7886700" cy="4351338"/>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1000"/>
              </a:spcBef>
              <a:spcAft>
                <a:spcPts val="0"/>
              </a:spcAft>
              <a:buSzPts val="2400"/>
              <a:buFont typeface="Arial"/>
              <a:buChar char="•"/>
              <a:defRPr sz="2400">
                <a:solidFill>
                  <a:schemeClr val="dk2"/>
                </a:solidFill>
                <a:latin typeface="Helvetica Neue"/>
                <a:ea typeface="Helvetica Neue"/>
                <a:cs typeface="Helvetica Neue"/>
                <a:sym typeface="Helvetica Neue"/>
              </a:defRPr>
            </a:lvl1pPr>
            <a:lvl2pPr indent="-355600" lvl="1" marL="914400" algn="l">
              <a:lnSpc>
                <a:spcPct val="90000"/>
              </a:lnSpc>
              <a:spcBef>
                <a:spcPts val="500"/>
              </a:spcBef>
              <a:spcAft>
                <a:spcPts val="0"/>
              </a:spcAft>
              <a:buSzPts val="2000"/>
              <a:buFont typeface="Arial"/>
              <a:buChar char="•"/>
              <a:defRPr sz="2000">
                <a:solidFill>
                  <a:schemeClr val="dk2"/>
                </a:solidFill>
                <a:latin typeface="Helvetica Neue"/>
                <a:ea typeface="Helvetica Neue"/>
                <a:cs typeface="Helvetica Neue"/>
                <a:sym typeface="Helvetica Neue"/>
              </a:defRPr>
            </a:lvl2pPr>
            <a:lvl3pPr indent="-342900" lvl="2" marL="1371600" algn="l">
              <a:lnSpc>
                <a:spcPct val="90000"/>
              </a:lnSpc>
              <a:spcBef>
                <a:spcPts val="500"/>
              </a:spcBef>
              <a:spcAft>
                <a:spcPts val="0"/>
              </a:spcAft>
              <a:buSzPts val="1800"/>
              <a:buFont typeface="Arial"/>
              <a:buChar char="•"/>
              <a:defRPr sz="1800">
                <a:solidFill>
                  <a:schemeClr val="dk2"/>
                </a:solidFill>
                <a:latin typeface="Helvetica Neue"/>
                <a:ea typeface="Helvetica Neue"/>
                <a:cs typeface="Helvetica Neue"/>
                <a:sym typeface="Helvetica Neue"/>
              </a:defRPr>
            </a:lvl3pPr>
            <a:lvl4pPr indent="-330200" lvl="3" marL="1828800" algn="l">
              <a:lnSpc>
                <a:spcPct val="90000"/>
              </a:lnSpc>
              <a:spcBef>
                <a:spcPts val="500"/>
              </a:spcBef>
              <a:spcAft>
                <a:spcPts val="0"/>
              </a:spcAft>
              <a:buSzPts val="1600"/>
              <a:buFont typeface="Arial"/>
              <a:buChar char="•"/>
              <a:defRPr sz="1600">
                <a:solidFill>
                  <a:schemeClr val="dk2"/>
                </a:solidFill>
                <a:latin typeface="Helvetica Neue"/>
                <a:ea typeface="Helvetica Neue"/>
                <a:cs typeface="Helvetica Neue"/>
                <a:sym typeface="Helvetica Neue"/>
              </a:defRPr>
            </a:lvl4pPr>
            <a:lvl5pPr indent="-317500" lvl="4" marL="2286000" algn="l">
              <a:lnSpc>
                <a:spcPct val="90000"/>
              </a:lnSpc>
              <a:spcBef>
                <a:spcPts val="500"/>
              </a:spcBef>
              <a:spcAft>
                <a:spcPts val="0"/>
              </a:spcAft>
              <a:buSzPts val="1400"/>
              <a:buFont typeface="Arial"/>
              <a:buChar char="•"/>
              <a:defRPr sz="14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40"/>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sp>
        <p:nvSpPr>
          <p:cNvPr id="133" name="Google Shape;133;p40"/>
          <p:cNvSpPr txBox="1"/>
          <p:nvPr>
            <p:ph type="title"/>
          </p:nvPr>
        </p:nvSpPr>
        <p:spPr>
          <a:xfrm>
            <a:off x="628650" y="6477"/>
            <a:ext cx="7886700" cy="1325563"/>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34" name="Shape 134"/>
        <p:cNvGrpSpPr/>
        <p:nvPr/>
      </p:nvGrpSpPr>
      <p:grpSpPr>
        <a:xfrm>
          <a:off x="0" y="0"/>
          <a:ext cx="0" cy="0"/>
          <a:chOff x="0" y="0"/>
          <a:chExt cx="0" cy="0"/>
        </a:xfrm>
      </p:grpSpPr>
      <p:sp>
        <p:nvSpPr>
          <p:cNvPr id="135" name="Google Shape;135;p41"/>
          <p:cNvSpPr/>
          <p:nvPr>
            <p:ph idx="2" type="pic"/>
          </p:nvPr>
        </p:nvSpPr>
        <p:spPr>
          <a:xfrm>
            <a:off x="628650" y="2049463"/>
            <a:ext cx="5486400" cy="3811588"/>
          </a:xfrm>
          <a:prstGeom prst="rect">
            <a:avLst/>
          </a:prstGeom>
          <a:noFill/>
          <a:ln>
            <a:noFill/>
          </a:ln>
        </p:spPr>
      </p:sp>
      <p:sp>
        <p:nvSpPr>
          <p:cNvPr id="136" name="Google Shape;136;p41"/>
          <p:cNvSpPr txBox="1"/>
          <p:nvPr>
            <p:ph idx="1" type="body"/>
          </p:nvPr>
        </p:nvSpPr>
        <p:spPr>
          <a:xfrm>
            <a:off x="6456759" y="2057400"/>
            <a:ext cx="2057401" cy="3811588"/>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600"/>
              <a:buNone/>
              <a:defRPr sz="16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p41"/>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41"/>
          <p:cNvSpPr txBox="1"/>
          <p:nvPr>
            <p:ph type="title"/>
          </p:nvPr>
        </p:nvSpPr>
        <p:spPr>
          <a:xfrm>
            <a:off x="628650" y="6477"/>
            <a:ext cx="7886700" cy="1325563"/>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Bullets">
  <p:cSld name="Picture with Bullets">
    <p:spTree>
      <p:nvGrpSpPr>
        <p:cNvPr id="139" name="Shape 139"/>
        <p:cNvGrpSpPr/>
        <p:nvPr/>
      </p:nvGrpSpPr>
      <p:grpSpPr>
        <a:xfrm>
          <a:off x="0" y="0"/>
          <a:ext cx="0" cy="0"/>
          <a:chOff x="0" y="0"/>
          <a:chExt cx="0" cy="0"/>
        </a:xfrm>
      </p:grpSpPr>
      <p:sp>
        <p:nvSpPr>
          <p:cNvPr id="140" name="Google Shape;140;p42"/>
          <p:cNvSpPr txBox="1"/>
          <p:nvPr>
            <p:ph type="title"/>
          </p:nvPr>
        </p:nvSpPr>
        <p:spPr>
          <a:xfrm>
            <a:off x="628650" y="0"/>
            <a:ext cx="7886700" cy="1325563"/>
          </a:xfrm>
          <a:prstGeom prst="rect">
            <a:avLst/>
          </a:prstGeom>
          <a:noFill/>
          <a:ln>
            <a:noFill/>
          </a:ln>
        </p:spPr>
        <p:txBody>
          <a:bodyPr anchorCtr="0" anchor="ctr" bIns="45700" lIns="0" spcFirstLastPara="1" rIns="0" wrap="square" tIns="45700">
            <a:normAutofit/>
          </a:bodyPr>
          <a:lstStyle>
            <a:lvl1pPr lvl="0" marR="0" algn="l">
              <a:lnSpc>
                <a:spcPct val="90000"/>
              </a:lnSpc>
              <a:spcBef>
                <a:spcPts val="0"/>
              </a:spcBef>
              <a:spcAft>
                <a:spcPts val="0"/>
              </a:spcAft>
              <a:buClr>
                <a:schemeClr val="accent1"/>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42"/>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142" name="Google Shape;142;p42"/>
          <p:cNvSpPr/>
          <p:nvPr>
            <p:ph idx="2" type="pic"/>
          </p:nvPr>
        </p:nvSpPr>
        <p:spPr>
          <a:xfrm>
            <a:off x="628651" y="1811871"/>
            <a:ext cx="3790950" cy="4049183"/>
          </a:xfrm>
          <a:prstGeom prst="rect">
            <a:avLst/>
          </a:prstGeom>
          <a:noFill/>
          <a:ln>
            <a:noFill/>
          </a:ln>
        </p:spPr>
      </p:sp>
      <p:sp>
        <p:nvSpPr>
          <p:cNvPr id="143" name="Google Shape;143;p42"/>
          <p:cNvSpPr txBox="1"/>
          <p:nvPr>
            <p:ph idx="1" type="body"/>
          </p:nvPr>
        </p:nvSpPr>
        <p:spPr>
          <a:xfrm>
            <a:off x="4724399" y="1809751"/>
            <a:ext cx="3790950" cy="4059238"/>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1000"/>
              </a:spcBef>
              <a:spcAft>
                <a:spcPts val="0"/>
              </a:spcAft>
              <a:buSzPts val="2400"/>
              <a:buChar char="•"/>
              <a:defRPr sz="2400">
                <a:solidFill>
                  <a:schemeClr val="dk2"/>
                </a:solidFill>
                <a:latin typeface="Helvetica Neue"/>
                <a:ea typeface="Helvetica Neue"/>
                <a:cs typeface="Helvetica Neue"/>
                <a:sym typeface="Helvetica Neue"/>
              </a:defRPr>
            </a:lvl1pPr>
            <a:lvl2pPr indent="-361950" lvl="1" marL="914400" algn="l">
              <a:lnSpc>
                <a:spcPct val="90000"/>
              </a:lnSpc>
              <a:spcBef>
                <a:spcPts val="500"/>
              </a:spcBef>
              <a:spcAft>
                <a:spcPts val="0"/>
              </a:spcAft>
              <a:buSzPts val="2100"/>
              <a:buChar char="•"/>
              <a:defRPr sz="2100">
                <a:solidFill>
                  <a:schemeClr val="dk2"/>
                </a:solidFill>
                <a:latin typeface="Helvetica Neue"/>
                <a:ea typeface="Helvetica Neue"/>
                <a:cs typeface="Helvetica Neue"/>
                <a:sym typeface="Helvetica Neue"/>
              </a:defRPr>
            </a:lvl2pPr>
            <a:lvl3pPr indent="-342900" lvl="2" marL="1371600" algn="l">
              <a:lnSpc>
                <a:spcPct val="90000"/>
              </a:lnSpc>
              <a:spcBef>
                <a:spcPts val="500"/>
              </a:spcBef>
              <a:spcAft>
                <a:spcPts val="0"/>
              </a:spcAft>
              <a:buSzPts val="1800"/>
              <a:buChar char="•"/>
              <a:defRPr sz="1800">
                <a:solidFill>
                  <a:schemeClr val="dk2"/>
                </a:solidFill>
                <a:latin typeface="Helvetica Neue"/>
                <a:ea typeface="Helvetica Neue"/>
                <a:cs typeface="Helvetica Neue"/>
                <a:sym typeface="Helvetica Neue"/>
              </a:defRPr>
            </a:lvl3pPr>
            <a:lvl4pPr indent="-323850" lvl="3" marL="1828800" algn="l">
              <a:lnSpc>
                <a:spcPct val="90000"/>
              </a:lnSpc>
              <a:spcBef>
                <a:spcPts val="500"/>
              </a:spcBef>
              <a:spcAft>
                <a:spcPts val="0"/>
              </a:spcAft>
              <a:buSzPts val="1500"/>
              <a:buChar char="•"/>
              <a:defRPr sz="1500">
                <a:solidFill>
                  <a:schemeClr val="dk2"/>
                </a:solidFill>
                <a:latin typeface="Helvetica Neue"/>
                <a:ea typeface="Helvetica Neue"/>
                <a:cs typeface="Helvetica Neue"/>
                <a:sym typeface="Helvetica Neue"/>
              </a:defRPr>
            </a:lvl4pPr>
            <a:lvl5pPr indent="-323850" lvl="4" marL="2286000" algn="l">
              <a:lnSpc>
                <a:spcPct val="90000"/>
              </a:lnSpc>
              <a:spcBef>
                <a:spcPts val="500"/>
              </a:spcBef>
              <a:spcAft>
                <a:spcPts val="0"/>
              </a:spcAft>
              <a:buSzPts val="1500"/>
              <a:buChar char="•"/>
              <a:defRPr sz="1500">
                <a:solidFill>
                  <a:schemeClr val="dk2"/>
                </a:solidFill>
                <a:latin typeface="Helvetica Neue"/>
                <a:ea typeface="Helvetica Neue"/>
                <a:cs typeface="Helvetica Neue"/>
                <a:sym typeface="Helvetica Neue"/>
              </a:defRPr>
            </a:lvl5pPr>
            <a:lvl6pPr indent="-323850" lvl="5" marL="2743200" algn="l">
              <a:lnSpc>
                <a:spcPct val="90000"/>
              </a:lnSpc>
              <a:spcBef>
                <a:spcPts val="500"/>
              </a:spcBef>
              <a:spcAft>
                <a:spcPts val="0"/>
              </a:spcAft>
              <a:buClr>
                <a:schemeClr val="dk1"/>
              </a:buClr>
              <a:buSzPts val="1500"/>
              <a:buChar char="•"/>
              <a:defRPr sz="1500"/>
            </a:lvl6pPr>
            <a:lvl7pPr indent="-323850" lvl="6" marL="3200400" algn="l">
              <a:lnSpc>
                <a:spcPct val="90000"/>
              </a:lnSpc>
              <a:spcBef>
                <a:spcPts val="500"/>
              </a:spcBef>
              <a:spcAft>
                <a:spcPts val="0"/>
              </a:spcAft>
              <a:buClr>
                <a:schemeClr val="dk1"/>
              </a:buClr>
              <a:buSzPts val="1500"/>
              <a:buChar char="•"/>
              <a:defRPr sz="1500"/>
            </a:lvl7pPr>
            <a:lvl8pPr indent="-323850" lvl="7" marL="3657600" algn="l">
              <a:lnSpc>
                <a:spcPct val="90000"/>
              </a:lnSpc>
              <a:spcBef>
                <a:spcPts val="500"/>
              </a:spcBef>
              <a:spcAft>
                <a:spcPts val="0"/>
              </a:spcAft>
              <a:buClr>
                <a:schemeClr val="dk1"/>
              </a:buClr>
              <a:buSzPts val="1500"/>
              <a:buChar char="•"/>
              <a:defRPr sz="1500"/>
            </a:lvl8pPr>
            <a:lvl9pPr indent="-323850" lvl="8" marL="4114800" algn="l">
              <a:lnSpc>
                <a:spcPct val="90000"/>
              </a:lnSpc>
              <a:spcBef>
                <a:spcPts val="500"/>
              </a:spcBef>
              <a:spcAft>
                <a:spcPts val="0"/>
              </a:spcAft>
              <a:buClr>
                <a:schemeClr val="dk1"/>
              </a:buClr>
              <a:buSzPts val="1500"/>
              <a:buChar char="•"/>
              <a:defRPr sz="1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with Caption">
  <p:cSld name="3 Picture with Caption">
    <p:spTree>
      <p:nvGrpSpPr>
        <p:cNvPr id="144" name="Shape 144"/>
        <p:cNvGrpSpPr/>
        <p:nvPr/>
      </p:nvGrpSpPr>
      <p:grpSpPr>
        <a:xfrm>
          <a:off x="0" y="0"/>
          <a:ext cx="0" cy="0"/>
          <a:chOff x="0" y="0"/>
          <a:chExt cx="0" cy="0"/>
        </a:xfrm>
      </p:grpSpPr>
      <p:sp>
        <p:nvSpPr>
          <p:cNvPr id="145" name="Google Shape;145;p43"/>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146" name="Google Shape;146;p43"/>
          <p:cNvSpPr/>
          <p:nvPr>
            <p:ph idx="2" type="pic"/>
          </p:nvPr>
        </p:nvSpPr>
        <p:spPr>
          <a:xfrm>
            <a:off x="628650" y="2256101"/>
            <a:ext cx="2494327" cy="1521963"/>
          </a:xfrm>
          <a:prstGeom prst="rect">
            <a:avLst/>
          </a:prstGeom>
          <a:noFill/>
          <a:ln>
            <a:noFill/>
          </a:ln>
        </p:spPr>
      </p:sp>
      <p:sp>
        <p:nvSpPr>
          <p:cNvPr id="147" name="Google Shape;147;p43"/>
          <p:cNvSpPr txBox="1"/>
          <p:nvPr>
            <p:ph idx="1" type="body"/>
          </p:nvPr>
        </p:nvSpPr>
        <p:spPr>
          <a:xfrm>
            <a:off x="628649" y="4001522"/>
            <a:ext cx="2494326" cy="8389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400"/>
              <a:buNone/>
              <a:defRPr sz="14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43"/>
          <p:cNvSpPr txBox="1"/>
          <p:nvPr>
            <p:ph idx="3" type="body"/>
          </p:nvPr>
        </p:nvSpPr>
        <p:spPr>
          <a:xfrm>
            <a:off x="3324114" y="4001522"/>
            <a:ext cx="2495765" cy="8389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400"/>
              <a:buNone/>
              <a:defRPr sz="14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9" name="Google Shape;149;p43"/>
          <p:cNvSpPr txBox="1"/>
          <p:nvPr>
            <p:ph idx="4" type="body"/>
          </p:nvPr>
        </p:nvSpPr>
        <p:spPr>
          <a:xfrm>
            <a:off x="6019585" y="4001521"/>
            <a:ext cx="2495763" cy="838901"/>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400"/>
              <a:buNone/>
              <a:defRPr sz="14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0" name="Google Shape;150;p43"/>
          <p:cNvSpPr/>
          <p:nvPr>
            <p:ph idx="5" type="pic"/>
          </p:nvPr>
        </p:nvSpPr>
        <p:spPr>
          <a:xfrm>
            <a:off x="3324117" y="2256361"/>
            <a:ext cx="2495765" cy="1522840"/>
          </a:xfrm>
          <a:prstGeom prst="rect">
            <a:avLst/>
          </a:prstGeom>
          <a:noFill/>
          <a:ln>
            <a:noFill/>
          </a:ln>
        </p:spPr>
      </p:sp>
      <p:sp>
        <p:nvSpPr>
          <p:cNvPr id="151" name="Google Shape;151;p43"/>
          <p:cNvSpPr/>
          <p:nvPr>
            <p:ph idx="6" type="pic"/>
          </p:nvPr>
        </p:nvSpPr>
        <p:spPr>
          <a:xfrm>
            <a:off x="6019584" y="2256361"/>
            <a:ext cx="2495765" cy="1522840"/>
          </a:xfrm>
          <a:prstGeom prst="rect">
            <a:avLst/>
          </a:prstGeom>
          <a:noFill/>
          <a:ln>
            <a:noFill/>
          </a:ln>
        </p:spPr>
      </p:sp>
      <p:sp>
        <p:nvSpPr>
          <p:cNvPr id="152" name="Google Shape;152;p43"/>
          <p:cNvSpPr txBox="1"/>
          <p:nvPr>
            <p:ph type="title"/>
          </p:nvPr>
        </p:nvSpPr>
        <p:spPr>
          <a:xfrm>
            <a:off x="628650" y="6477"/>
            <a:ext cx="7886700" cy="1325563"/>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Full Slide" showMasterSp="0">
  <p:cSld name="Picture Full Slide">
    <p:spTree>
      <p:nvGrpSpPr>
        <p:cNvPr id="153" name="Shape 153"/>
        <p:cNvGrpSpPr/>
        <p:nvPr/>
      </p:nvGrpSpPr>
      <p:grpSpPr>
        <a:xfrm>
          <a:off x="0" y="0"/>
          <a:ext cx="0" cy="0"/>
          <a:chOff x="0" y="0"/>
          <a:chExt cx="0" cy="0"/>
        </a:xfrm>
      </p:grpSpPr>
      <p:sp>
        <p:nvSpPr>
          <p:cNvPr id="154" name="Google Shape;154;p44"/>
          <p:cNvSpPr/>
          <p:nvPr>
            <p:ph idx="2" type="pic"/>
          </p:nvPr>
        </p:nvSpPr>
        <p:spPr>
          <a:xfrm>
            <a:off x="0" y="1"/>
            <a:ext cx="9144000" cy="6395952"/>
          </a:xfrm>
          <a:prstGeom prst="rect">
            <a:avLst/>
          </a:prstGeom>
          <a:noFill/>
          <a:ln>
            <a:noFill/>
          </a:ln>
        </p:spPr>
      </p:sp>
      <p:grpSp>
        <p:nvGrpSpPr>
          <p:cNvPr id="155" name="Google Shape;155;p44"/>
          <p:cNvGrpSpPr/>
          <p:nvPr/>
        </p:nvGrpSpPr>
        <p:grpSpPr>
          <a:xfrm>
            <a:off x="0" y="6396465"/>
            <a:ext cx="9144000" cy="470918"/>
            <a:chOff x="0" y="6396465"/>
            <a:chExt cx="9144000" cy="470918"/>
          </a:xfrm>
        </p:grpSpPr>
        <p:sp>
          <p:nvSpPr>
            <p:cNvPr id="156" name="Google Shape;156;p44"/>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57" name="Google Shape;157;p44"/>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158" name="Google Shape;158;p44"/>
            <p:cNvPicPr preferRelativeResize="0"/>
            <p:nvPr/>
          </p:nvPicPr>
          <p:blipFill rotWithShape="1">
            <a:blip r:embed="rId2">
              <a:alphaModFix/>
            </a:blip>
            <a:srcRect b="0" l="0" r="0" t="0"/>
            <a:stretch/>
          </p:blipFill>
          <p:spPr>
            <a:xfrm>
              <a:off x="496296" y="6409934"/>
              <a:ext cx="2094393" cy="451789"/>
            </a:xfrm>
            <a:prstGeom prst="rect">
              <a:avLst/>
            </a:prstGeom>
            <a:noFill/>
            <a:ln>
              <a:noFill/>
            </a:ln>
          </p:spPr>
        </p:pic>
        <p:pic>
          <p:nvPicPr>
            <p:cNvPr id="159" name="Google Shape;159;p44"/>
            <p:cNvPicPr preferRelativeResize="0"/>
            <p:nvPr/>
          </p:nvPicPr>
          <p:blipFill rotWithShape="1">
            <a:blip r:embed="rId3">
              <a:alphaModFix/>
            </a:blip>
            <a:srcRect b="0" l="0" r="0" t="0"/>
            <a:stretch/>
          </p:blipFill>
          <p:spPr>
            <a:xfrm>
              <a:off x="3903217" y="6398195"/>
              <a:ext cx="2088055" cy="462356"/>
            </a:xfrm>
            <a:prstGeom prst="rect">
              <a:avLst/>
            </a:prstGeom>
            <a:noFill/>
            <a:ln>
              <a:noFill/>
            </a:ln>
          </p:spPr>
        </p:pic>
        <p:pic>
          <p:nvPicPr>
            <p:cNvPr id="160" name="Google Shape;160;p44"/>
            <p:cNvPicPr preferRelativeResize="0"/>
            <p:nvPr/>
          </p:nvPicPr>
          <p:blipFill rotWithShape="1">
            <a:blip r:embed="rId4">
              <a:alphaModFix/>
            </a:blip>
            <a:srcRect b="0" l="0" r="0" t="0"/>
            <a:stretch/>
          </p:blipFill>
          <p:spPr>
            <a:xfrm>
              <a:off x="2555997" y="6413546"/>
              <a:ext cx="2040333" cy="450968"/>
            </a:xfrm>
            <a:prstGeom prst="rect">
              <a:avLst/>
            </a:prstGeom>
            <a:noFill/>
            <a:ln>
              <a:noFill/>
            </a:ln>
          </p:spPr>
        </p:pic>
        <p:cxnSp>
          <p:nvCxnSpPr>
            <p:cNvPr id="161" name="Google Shape;161;p44"/>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162" name="Google Shape;162;p44"/>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
        <p:nvSpPr>
          <p:cNvPr id="163" name="Google Shape;163;p44"/>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 Stacked" showMasterSp="0">
  <p:cSld name="4 Picture Stacked">
    <p:spTree>
      <p:nvGrpSpPr>
        <p:cNvPr id="164" name="Shape 164"/>
        <p:cNvGrpSpPr/>
        <p:nvPr/>
      </p:nvGrpSpPr>
      <p:grpSpPr>
        <a:xfrm>
          <a:off x="0" y="0"/>
          <a:ext cx="0" cy="0"/>
          <a:chOff x="0" y="0"/>
          <a:chExt cx="0" cy="0"/>
        </a:xfrm>
      </p:grpSpPr>
      <p:sp>
        <p:nvSpPr>
          <p:cNvPr id="165" name="Google Shape;165;p45"/>
          <p:cNvSpPr/>
          <p:nvPr>
            <p:ph idx="2" type="pic"/>
          </p:nvPr>
        </p:nvSpPr>
        <p:spPr>
          <a:xfrm>
            <a:off x="3" y="3231643"/>
            <a:ext cx="4538833" cy="3172968"/>
          </a:xfrm>
          <a:prstGeom prst="rect">
            <a:avLst/>
          </a:prstGeom>
          <a:noFill/>
          <a:ln>
            <a:noFill/>
          </a:ln>
        </p:spPr>
      </p:sp>
      <p:sp>
        <p:nvSpPr>
          <p:cNvPr id="166" name="Google Shape;166;p45"/>
          <p:cNvSpPr/>
          <p:nvPr>
            <p:ph idx="3" type="pic"/>
          </p:nvPr>
        </p:nvSpPr>
        <p:spPr>
          <a:xfrm>
            <a:off x="4605167" y="3231643"/>
            <a:ext cx="4538835" cy="3172968"/>
          </a:xfrm>
          <a:prstGeom prst="rect">
            <a:avLst/>
          </a:prstGeom>
          <a:noFill/>
          <a:ln>
            <a:noFill/>
          </a:ln>
        </p:spPr>
      </p:sp>
      <p:sp>
        <p:nvSpPr>
          <p:cNvPr id="167" name="Google Shape;167;p45"/>
          <p:cNvSpPr/>
          <p:nvPr>
            <p:ph idx="4" type="pic"/>
          </p:nvPr>
        </p:nvSpPr>
        <p:spPr>
          <a:xfrm>
            <a:off x="1" y="2"/>
            <a:ext cx="4538834" cy="3172968"/>
          </a:xfrm>
          <a:prstGeom prst="rect">
            <a:avLst/>
          </a:prstGeom>
          <a:noFill/>
          <a:ln>
            <a:noFill/>
          </a:ln>
        </p:spPr>
      </p:sp>
      <p:sp>
        <p:nvSpPr>
          <p:cNvPr id="168" name="Google Shape;168;p45"/>
          <p:cNvSpPr/>
          <p:nvPr>
            <p:ph idx="5" type="pic"/>
          </p:nvPr>
        </p:nvSpPr>
        <p:spPr>
          <a:xfrm>
            <a:off x="4605167" y="2"/>
            <a:ext cx="4538835" cy="3172968"/>
          </a:xfrm>
          <a:prstGeom prst="rect">
            <a:avLst/>
          </a:prstGeom>
          <a:noFill/>
          <a:ln>
            <a:noFill/>
          </a:ln>
        </p:spPr>
      </p:sp>
      <p:grpSp>
        <p:nvGrpSpPr>
          <p:cNvPr id="169" name="Google Shape;169;p45"/>
          <p:cNvGrpSpPr/>
          <p:nvPr/>
        </p:nvGrpSpPr>
        <p:grpSpPr>
          <a:xfrm>
            <a:off x="0" y="6396465"/>
            <a:ext cx="9144000" cy="470918"/>
            <a:chOff x="0" y="6396465"/>
            <a:chExt cx="9144000" cy="470918"/>
          </a:xfrm>
        </p:grpSpPr>
        <p:sp>
          <p:nvSpPr>
            <p:cNvPr id="170" name="Google Shape;170;p45"/>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71" name="Google Shape;171;p45"/>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172" name="Google Shape;172;p45"/>
            <p:cNvPicPr preferRelativeResize="0"/>
            <p:nvPr/>
          </p:nvPicPr>
          <p:blipFill rotWithShape="1">
            <a:blip r:embed="rId2">
              <a:alphaModFix/>
            </a:blip>
            <a:srcRect b="0" l="0" r="0" t="0"/>
            <a:stretch/>
          </p:blipFill>
          <p:spPr>
            <a:xfrm>
              <a:off x="496296" y="6409934"/>
              <a:ext cx="2094393" cy="451789"/>
            </a:xfrm>
            <a:prstGeom prst="rect">
              <a:avLst/>
            </a:prstGeom>
            <a:noFill/>
            <a:ln>
              <a:noFill/>
            </a:ln>
          </p:spPr>
        </p:pic>
        <p:pic>
          <p:nvPicPr>
            <p:cNvPr id="173" name="Google Shape;173;p45"/>
            <p:cNvPicPr preferRelativeResize="0"/>
            <p:nvPr/>
          </p:nvPicPr>
          <p:blipFill rotWithShape="1">
            <a:blip r:embed="rId3">
              <a:alphaModFix/>
            </a:blip>
            <a:srcRect b="0" l="0" r="0" t="0"/>
            <a:stretch/>
          </p:blipFill>
          <p:spPr>
            <a:xfrm>
              <a:off x="3903217" y="6398195"/>
              <a:ext cx="2088055" cy="462356"/>
            </a:xfrm>
            <a:prstGeom prst="rect">
              <a:avLst/>
            </a:prstGeom>
            <a:noFill/>
            <a:ln>
              <a:noFill/>
            </a:ln>
          </p:spPr>
        </p:pic>
        <p:pic>
          <p:nvPicPr>
            <p:cNvPr id="174" name="Google Shape;174;p45"/>
            <p:cNvPicPr preferRelativeResize="0"/>
            <p:nvPr/>
          </p:nvPicPr>
          <p:blipFill rotWithShape="1">
            <a:blip r:embed="rId4">
              <a:alphaModFix/>
            </a:blip>
            <a:srcRect b="0" l="0" r="0" t="0"/>
            <a:stretch/>
          </p:blipFill>
          <p:spPr>
            <a:xfrm>
              <a:off x="2555997" y="6413546"/>
              <a:ext cx="2040333" cy="450968"/>
            </a:xfrm>
            <a:prstGeom prst="rect">
              <a:avLst/>
            </a:prstGeom>
            <a:noFill/>
            <a:ln>
              <a:noFill/>
            </a:ln>
          </p:spPr>
        </p:pic>
        <p:cxnSp>
          <p:nvCxnSpPr>
            <p:cNvPr id="175" name="Google Shape;175;p45"/>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176" name="Google Shape;176;p45"/>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
        <p:nvSpPr>
          <p:cNvPr id="177" name="Google Shape;177;p45"/>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ield" showMasterSp="0">
  <p:cSld name="Closing Slide Shield">
    <p:spTree>
      <p:nvGrpSpPr>
        <p:cNvPr id="178" name="Shape 178"/>
        <p:cNvGrpSpPr/>
        <p:nvPr/>
      </p:nvGrpSpPr>
      <p:grpSpPr>
        <a:xfrm>
          <a:off x="0" y="0"/>
          <a:ext cx="0" cy="0"/>
          <a:chOff x="0" y="0"/>
          <a:chExt cx="0" cy="0"/>
        </a:xfrm>
      </p:grpSpPr>
      <p:grpSp>
        <p:nvGrpSpPr>
          <p:cNvPr id="179" name="Google Shape;179;p46"/>
          <p:cNvGrpSpPr/>
          <p:nvPr/>
        </p:nvGrpSpPr>
        <p:grpSpPr>
          <a:xfrm>
            <a:off x="3911642" y="-2100917"/>
            <a:ext cx="8384488" cy="10850515"/>
            <a:chOff x="3946487" y="-2045539"/>
            <a:chExt cx="8193228" cy="10603002"/>
          </a:xfrm>
        </p:grpSpPr>
        <p:pic>
          <p:nvPicPr>
            <p:cNvPr id="180" name="Google Shape;180;p46"/>
            <p:cNvPicPr preferRelativeResize="0"/>
            <p:nvPr/>
          </p:nvPicPr>
          <p:blipFill rotWithShape="1">
            <a:blip r:embed="rId2">
              <a:alphaModFix amt="30000"/>
            </a:blip>
            <a:srcRect b="0" l="0" r="0" t="0"/>
            <a:stretch/>
          </p:blipFill>
          <p:spPr>
            <a:xfrm>
              <a:off x="3946487" y="-2045539"/>
              <a:ext cx="8193228" cy="10603002"/>
            </a:xfrm>
            <a:prstGeom prst="rect">
              <a:avLst/>
            </a:prstGeom>
            <a:noFill/>
            <a:ln>
              <a:noFill/>
            </a:ln>
          </p:spPr>
        </p:pic>
        <p:pic>
          <p:nvPicPr>
            <p:cNvPr id="181" name="Google Shape;181;p46"/>
            <p:cNvPicPr preferRelativeResize="0"/>
            <p:nvPr/>
          </p:nvPicPr>
          <p:blipFill rotWithShape="1">
            <a:blip r:embed="rId3">
              <a:alphaModFix amt="15000"/>
            </a:blip>
            <a:srcRect b="0" l="0" r="0" t="0"/>
            <a:stretch/>
          </p:blipFill>
          <p:spPr>
            <a:xfrm>
              <a:off x="5173001" y="758028"/>
              <a:ext cx="5641848" cy="4936616"/>
            </a:xfrm>
            <a:prstGeom prst="rect">
              <a:avLst/>
            </a:prstGeom>
            <a:noFill/>
            <a:ln>
              <a:noFill/>
            </a:ln>
          </p:spPr>
        </p:pic>
      </p:grpSp>
      <p:grpSp>
        <p:nvGrpSpPr>
          <p:cNvPr id="182" name="Google Shape;182;p46"/>
          <p:cNvGrpSpPr/>
          <p:nvPr/>
        </p:nvGrpSpPr>
        <p:grpSpPr>
          <a:xfrm>
            <a:off x="0" y="6396465"/>
            <a:ext cx="9144000" cy="470918"/>
            <a:chOff x="0" y="6396465"/>
            <a:chExt cx="9144000" cy="470918"/>
          </a:xfrm>
        </p:grpSpPr>
        <p:sp>
          <p:nvSpPr>
            <p:cNvPr id="183" name="Google Shape;183;p46"/>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84" name="Google Shape;184;p46"/>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185" name="Google Shape;185;p46"/>
            <p:cNvPicPr preferRelativeResize="0"/>
            <p:nvPr/>
          </p:nvPicPr>
          <p:blipFill rotWithShape="1">
            <a:blip r:embed="rId4">
              <a:alphaModFix/>
            </a:blip>
            <a:srcRect b="0" l="0" r="0" t="0"/>
            <a:stretch/>
          </p:blipFill>
          <p:spPr>
            <a:xfrm>
              <a:off x="496296" y="6409934"/>
              <a:ext cx="2094393" cy="451789"/>
            </a:xfrm>
            <a:prstGeom prst="rect">
              <a:avLst/>
            </a:prstGeom>
            <a:noFill/>
            <a:ln>
              <a:noFill/>
            </a:ln>
          </p:spPr>
        </p:pic>
        <p:pic>
          <p:nvPicPr>
            <p:cNvPr id="186" name="Google Shape;186;p46"/>
            <p:cNvPicPr preferRelativeResize="0"/>
            <p:nvPr/>
          </p:nvPicPr>
          <p:blipFill rotWithShape="1">
            <a:blip r:embed="rId5">
              <a:alphaModFix/>
            </a:blip>
            <a:srcRect b="0" l="0" r="0" t="0"/>
            <a:stretch/>
          </p:blipFill>
          <p:spPr>
            <a:xfrm>
              <a:off x="3903217" y="6398195"/>
              <a:ext cx="2088055" cy="462356"/>
            </a:xfrm>
            <a:prstGeom prst="rect">
              <a:avLst/>
            </a:prstGeom>
            <a:noFill/>
            <a:ln>
              <a:noFill/>
            </a:ln>
          </p:spPr>
        </p:pic>
        <p:pic>
          <p:nvPicPr>
            <p:cNvPr id="187" name="Google Shape;187;p46"/>
            <p:cNvPicPr preferRelativeResize="0"/>
            <p:nvPr/>
          </p:nvPicPr>
          <p:blipFill rotWithShape="1">
            <a:blip r:embed="rId6">
              <a:alphaModFix/>
            </a:blip>
            <a:srcRect b="0" l="0" r="0" t="0"/>
            <a:stretch/>
          </p:blipFill>
          <p:spPr>
            <a:xfrm>
              <a:off x="2555997" y="6413546"/>
              <a:ext cx="2040333" cy="450968"/>
            </a:xfrm>
            <a:prstGeom prst="rect">
              <a:avLst/>
            </a:prstGeom>
            <a:noFill/>
            <a:ln>
              <a:noFill/>
            </a:ln>
          </p:spPr>
        </p:pic>
        <p:cxnSp>
          <p:nvCxnSpPr>
            <p:cNvPr id="188" name="Google Shape;188;p46"/>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189" name="Google Shape;189;p46"/>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
        <p:nvSpPr>
          <p:cNvPr id="190" name="Google Shape;190;p46"/>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191" name="Google Shape;191;p46"/>
          <p:cNvSpPr txBox="1"/>
          <p:nvPr>
            <p:ph idx="1" type="body"/>
          </p:nvPr>
        </p:nvSpPr>
        <p:spPr>
          <a:xfrm>
            <a:off x="699331" y="2430928"/>
            <a:ext cx="3872670"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sz="1800">
                <a:solidFill>
                  <a:srgbClr val="767676"/>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Grey Phoenix" showMasterSp="0">
  <p:cSld name="Closing Slide Grey Phoenix">
    <p:spTree>
      <p:nvGrpSpPr>
        <p:cNvPr id="192" name="Shape 192"/>
        <p:cNvGrpSpPr/>
        <p:nvPr/>
      </p:nvGrpSpPr>
      <p:grpSpPr>
        <a:xfrm>
          <a:off x="0" y="0"/>
          <a:ext cx="0" cy="0"/>
          <a:chOff x="0" y="0"/>
          <a:chExt cx="0" cy="0"/>
        </a:xfrm>
      </p:grpSpPr>
      <p:grpSp>
        <p:nvGrpSpPr>
          <p:cNvPr id="193" name="Google Shape;193;p47"/>
          <p:cNvGrpSpPr/>
          <p:nvPr/>
        </p:nvGrpSpPr>
        <p:grpSpPr>
          <a:xfrm>
            <a:off x="0" y="6396465"/>
            <a:ext cx="9144000" cy="470918"/>
            <a:chOff x="0" y="6396465"/>
            <a:chExt cx="9144000" cy="470918"/>
          </a:xfrm>
        </p:grpSpPr>
        <p:sp>
          <p:nvSpPr>
            <p:cNvPr id="194" name="Google Shape;194;p47"/>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95" name="Google Shape;195;p47"/>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196" name="Google Shape;196;p47"/>
            <p:cNvPicPr preferRelativeResize="0"/>
            <p:nvPr/>
          </p:nvPicPr>
          <p:blipFill rotWithShape="1">
            <a:blip r:embed="rId2">
              <a:alphaModFix/>
            </a:blip>
            <a:srcRect b="0" l="0" r="0" t="0"/>
            <a:stretch/>
          </p:blipFill>
          <p:spPr>
            <a:xfrm>
              <a:off x="496296" y="6409934"/>
              <a:ext cx="2094393" cy="451789"/>
            </a:xfrm>
            <a:prstGeom prst="rect">
              <a:avLst/>
            </a:prstGeom>
            <a:noFill/>
            <a:ln>
              <a:noFill/>
            </a:ln>
          </p:spPr>
        </p:pic>
        <p:pic>
          <p:nvPicPr>
            <p:cNvPr id="197" name="Google Shape;197;p47"/>
            <p:cNvPicPr preferRelativeResize="0"/>
            <p:nvPr/>
          </p:nvPicPr>
          <p:blipFill rotWithShape="1">
            <a:blip r:embed="rId3">
              <a:alphaModFix/>
            </a:blip>
            <a:srcRect b="0" l="0" r="0" t="0"/>
            <a:stretch/>
          </p:blipFill>
          <p:spPr>
            <a:xfrm>
              <a:off x="3903217" y="6398195"/>
              <a:ext cx="2088055" cy="462356"/>
            </a:xfrm>
            <a:prstGeom prst="rect">
              <a:avLst/>
            </a:prstGeom>
            <a:noFill/>
            <a:ln>
              <a:noFill/>
            </a:ln>
          </p:spPr>
        </p:pic>
        <p:pic>
          <p:nvPicPr>
            <p:cNvPr id="198" name="Google Shape;198;p47"/>
            <p:cNvPicPr preferRelativeResize="0"/>
            <p:nvPr/>
          </p:nvPicPr>
          <p:blipFill rotWithShape="1">
            <a:blip r:embed="rId4">
              <a:alphaModFix/>
            </a:blip>
            <a:srcRect b="0" l="0" r="0" t="0"/>
            <a:stretch/>
          </p:blipFill>
          <p:spPr>
            <a:xfrm>
              <a:off x="2555997" y="6413546"/>
              <a:ext cx="2040333" cy="450968"/>
            </a:xfrm>
            <a:prstGeom prst="rect">
              <a:avLst/>
            </a:prstGeom>
            <a:noFill/>
            <a:ln>
              <a:noFill/>
            </a:ln>
          </p:spPr>
        </p:pic>
        <p:cxnSp>
          <p:nvCxnSpPr>
            <p:cNvPr id="199" name="Google Shape;199;p47"/>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200" name="Google Shape;200;p47"/>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
        <p:nvSpPr>
          <p:cNvPr id="201" name="Google Shape;201;p47"/>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202" name="Google Shape;202;p47"/>
          <p:cNvSpPr txBox="1"/>
          <p:nvPr>
            <p:ph idx="1" type="body"/>
          </p:nvPr>
        </p:nvSpPr>
        <p:spPr>
          <a:xfrm>
            <a:off x="699331" y="2430928"/>
            <a:ext cx="3872670"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sz="1800">
                <a:solidFill>
                  <a:srgbClr val="767676"/>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id="203" name="Google Shape;203;p47"/>
          <p:cNvPicPr preferRelativeResize="0"/>
          <p:nvPr/>
        </p:nvPicPr>
        <p:blipFill rotWithShape="1">
          <a:blip r:embed="rId5">
            <a:alphaModFix amt="15000"/>
          </a:blip>
          <a:srcRect b="0" l="0" r="0" t="0"/>
          <a:stretch/>
        </p:blipFill>
        <p:spPr>
          <a:xfrm>
            <a:off x="5166787" y="768096"/>
            <a:ext cx="5773549" cy="505185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Grey Bar" showMasterSp="0">
  <p:cSld name="Closing Slide Grey Bar">
    <p:spTree>
      <p:nvGrpSpPr>
        <p:cNvPr id="204" name="Shape 204"/>
        <p:cNvGrpSpPr/>
        <p:nvPr/>
      </p:nvGrpSpPr>
      <p:grpSpPr>
        <a:xfrm>
          <a:off x="0" y="0"/>
          <a:ext cx="0" cy="0"/>
          <a:chOff x="0" y="0"/>
          <a:chExt cx="0" cy="0"/>
        </a:xfrm>
      </p:grpSpPr>
      <p:grpSp>
        <p:nvGrpSpPr>
          <p:cNvPr id="205" name="Google Shape;205;p48"/>
          <p:cNvGrpSpPr/>
          <p:nvPr/>
        </p:nvGrpSpPr>
        <p:grpSpPr>
          <a:xfrm>
            <a:off x="5166360" y="-71120"/>
            <a:ext cx="5773549" cy="6471920"/>
            <a:chOff x="5166787" y="-71120"/>
            <a:chExt cx="5773549" cy="6471920"/>
          </a:xfrm>
        </p:grpSpPr>
        <p:sp>
          <p:nvSpPr>
            <p:cNvPr id="206" name="Google Shape;206;p48"/>
            <p:cNvSpPr/>
            <p:nvPr/>
          </p:nvSpPr>
          <p:spPr>
            <a:xfrm>
              <a:off x="5306906" y="-71120"/>
              <a:ext cx="3840480" cy="647192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207" name="Google Shape;207;p48"/>
            <p:cNvPicPr preferRelativeResize="0"/>
            <p:nvPr/>
          </p:nvPicPr>
          <p:blipFill rotWithShape="1">
            <a:blip r:embed="rId2">
              <a:alphaModFix amt="15000"/>
            </a:blip>
            <a:srcRect b="0" l="0" r="0" t="0"/>
            <a:stretch/>
          </p:blipFill>
          <p:spPr>
            <a:xfrm>
              <a:off x="5166787" y="750290"/>
              <a:ext cx="5773549" cy="5051855"/>
            </a:xfrm>
            <a:prstGeom prst="rect">
              <a:avLst/>
            </a:prstGeom>
            <a:noFill/>
            <a:ln>
              <a:noFill/>
            </a:ln>
          </p:spPr>
        </p:pic>
      </p:grpSp>
      <p:grpSp>
        <p:nvGrpSpPr>
          <p:cNvPr id="208" name="Google Shape;208;p48"/>
          <p:cNvGrpSpPr/>
          <p:nvPr/>
        </p:nvGrpSpPr>
        <p:grpSpPr>
          <a:xfrm>
            <a:off x="0" y="6396465"/>
            <a:ext cx="9144000" cy="470918"/>
            <a:chOff x="0" y="6396465"/>
            <a:chExt cx="9144000" cy="470918"/>
          </a:xfrm>
        </p:grpSpPr>
        <p:sp>
          <p:nvSpPr>
            <p:cNvPr id="209" name="Google Shape;209;p48"/>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10" name="Google Shape;210;p48"/>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211" name="Google Shape;211;p48"/>
            <p:cNvPicPr preferRelativeResize="0"/>
            <p:nvPr/>
          </p:nvPicPr>
          <p:blipFill rotWithShape="1">
            <a:blip r:embed="rId3">
              <a:alphaModFix/>
            </a:blip>
            <a:srcRect b="0" l="0" r="0" t="0"/>
            <a:stretch/>
          </p:blipFill>
          <p:spPr>
            <a:xfrm>
              <a:off x="496296" y="6409934"/>
              <a:ext cx="2094393" cy="451789"/>
            </a:xfrm>
            <a:prstGeom prst="rect">
              <a:avLst/>
            </a:prstGeom>
            <a:noFill/>
            <a:ln>
              <a:noFill/>
            </a:ln>
          </p:spPr>
        </p:pic>
        <p:pic>
          <p:nvPicPr>
            <p:cNvPr id="212" name="Google Shape;212;p48"/>
            <p:cNvPicPr preferRelativeResize="0"/>
            <p:nvPr/>
          </p:nvPicPr>
          <p:blipFill rotWithShape="1">
            <a:blip r:embed="rId4">
              <a:alphaModFix/>
            </a:blip>
            <a:srcRect b="0" l="0" r="0" t="0"/>
            <a:stretch/>
          </p:blipFill>
          <p:spPr>
            <a:xfrm>
              <a:off x="3903217" y="6398195"/>
              <a:ext cx="2088055" cy="462356"/>
            </a:xfrm>
            <a:prstGeom prst="rect">
              <a:avLst/>
            </a:prstGeom>
            <a:noFill/>
            <a:ln>
              <a:noFill/>
            </a:ln>
          </p:spPr>
        </p:pic>
        <p:pic>
          <p:nvPicPr>
            <p:cNvPr id="213" name="Google Shape;213;p48"/>
            <p:cNvPicPr preferRelativeResize="0"/>
            <p:nvPr/>
          </p:nvPicPr>
          <p:blipFill rotWithShape="1">
            <a:blip r:embed="rId5">
              <a:alphaModFix/>
            </a:blip>
            <a:srcRect b="0" l="0" r="0" t="0"/>
            <a:stretch/>
          </p:blipFill>
          <p:spPr>
            <a:xfrm>
              <a:off x="2555997" y="6413546"/>
              <a:ext cx="2040333" cy="450968"/>
            </a:xfrm>
            <a:prstGeom prst="rect">
              <a:avLst/>
            </a:prstGeom>
            <a:noFill/>
            <a:ln>
              <a:noFill/>
            </a:ln>
          </p:spPr>
        </p:pic>
        <p:cxnSp>
          <p:nvCxnSpPr>
            <p:cNvPr id="214" name="Google Shape;214;p48"/>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215" name="Google Shape;215;p48"/>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
        <p:nvSpPr>
          <p:cNvPr id="216" name="Google Shape;216;p48"/>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217" name="Google Shape;217;p48"/>
          <p:cNvSpPr txBox="1"/>
          <p:nvPr>
            <p:ph idx="1" type="body"/>
          </p:nvPr>
        </p:nvSpPr>
        <p:spPr>
          <a:xfrm>
            <a:off x="699331" y="2430928"/>
            <a:ext cx="3872670"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sz="1800">
                <a:solidFill>
                  <a:srgbClr val="767676"/>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Dark Greystone" showMasterSp="0">
  <p:cSld name="Closing Slide Dark Greystone">
    <p:bg>
      <p:bgPr>
        <a:solidFill>
          <a:schemeClr val="dk2"/>
        </a:solidFill>
      </p:bgPr>
    </p:bg>
    <p:spTree>
      <p:nvGrpSpPr>
        <p:cNvPr id="218" name="Shape 218"/>
        <p:cNvGrpSpPr/>
        <p:nvPr/>
      </p:nvGrpSpPr>
      <p:grpSpPr>
        <a:xfrm>
          <a:off x="0" y="0"/>
          <a:ext cx="0" cy="0"/>
          <a:chOff x="0" y="0"/>
          <a:chExt cx="0" cy="0"/>
        </a:xfrm>
      </p:grpSpPr>
      <p:grpSp>
        <p:nvGrpSpPr>
          <p:cNvPr id="219" name="Google Shape;219;p49"/>
          <p:cNvGrpSpPr/>
          <p:nvPr/>
        </p:nvGrpSpPr>
        <p:grpSpPr>
          <a:xfrm>
            <a:off x="5166360" y="0"/>
            <a:ext cx="5773549" cy="6400800"/>
            <a:chOff x="5156004" y="0"/>
            <a:chExt cx="5773549" cy="6400800"/>
          </a:xfrm>
        </p:grpSpPr>
        <p:sp>
          <p:nvSpPr>
            <p:cNvPr id="220" name="Google Shape;220;p49"/>
            <p:cNvSpPr/>
            <p:nvPr/>
          </p:nvSpPr>
          <p:spPr>
            <a:xfrm>
              <a:off x="5303520" y="0"/>
              <a:ext cx="3840480" cy="6400800"/>
            </a:xfrm>
            <a:prstGeom prst="rect">
              <a:avLst/>
            </a:prstGeom>
            <a:solidFill>
              <a:srgbClr val="A6A6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221" name="Google Shape;221;p49"/>
            <p:cNvPicPr preferRelativeResize="0"/>
            <p:nvPr/>
          </p:nvPicPr>
          <p:blipFill rotWithShape="1">
            <a:blip r:embed="rId2">
              <a:alphaModFix amt="30000"/>
            </a:blip>
            <a:srcRect b="0" l="0" r="0" t="0"/>
            <a:stretch/>
          </p:blipFill>
          <p:spPr>
            <a:xfrm>
              <a:off x="5156004" y="768096"/>
              <a:ext cx="5773549" cy="5051855"/>
            </a:xfrm>
            <a:prstGeom prst="rect">
              <a:avLst/>
            </a:prstGeom>
            <a:noFill/>
            <a:ln>
              <a:noFill/>
            </a:ln>
          </p:spPr>
        </p:pic>
      </p:grpSp>
      <p:grpSp>
        <p:nvGrpSpPr>
          <p:cNvPr id="222" name="Google Shape;222;p49"/>
          <p:cNvGrpSpPr/>
          <p:nvPr/>
        </p:nvGrpSpPr>
        <p:grpSpPr>
          <a:xfrm>
            <a:off x="0" y="6396465"/>
            <a:ext cx="9144000" cy="470918"/>
            <a:chOff x="0" y="6396465"/>
            <a:chExt cx="9144000" cy="470918"/>
          </a:xfrm>
        </p:grpSpPr>
        <p:sp>
          <p:nvSpPr>
            <p:cNvPr id="223" name="Google Shape;223;p49"/>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24" name="Google Shape;224;p49"/>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225" name="Google Shape;225;p49"/>
            <p:cNvPicPr preferRelativeResize="0"/>
            <p:nvPr/>
          </p:nvPicPr>
          <p:blipFill rotWithShape="1">
            <a:blip r:embed="rId3">
              <a:alphaModFix/>
            </a:blip>
            <a:srcRect b="0" l="0" r="0" t="0"/>
            <a:stretch/>
          </p:blipFill>
          <p:spPr>
            <a:xfrm>
              <a:off x="496296" y="6409934"/>
              <a:ext cx="2094393" cy="451789"/>
            </a:xfrm>
            <a:prstGeom prst="rect">
              <a:avLst/>
            </a:prstGeom>
            <a:noFill/>
            <a:ln>
              <a:noFill/>
            </a:ln>
          </p:spPr>
        </p:pic>
        <p:pic>
          <p:nvPicPr>
            <p:cNvPr id="226" name="Google Shape;226;p49"/>
            <p:cNvPicPr preferRelativeResize="0"/>
            <p:nvPr/>
          </p:nvPicPr>
          <p:blipFill rotWithShape="1">
            <a:blip r:embed="rId4">
              <a:alphaModFix/>
            </a:blip>
            <a:srcRect b="0" l="0" r="0" t="0"/>
            <a:stretch/>
          </p:blipFill>
          <p:spPr>
            <a:xfrm>
              <a:off x="3903217" y="6398195"/>
              <a:ext cx="2088055" cy="462356"/>
            </a:xfrm>
            <a:prstGeom prst="rect">
              <a:avLst/>
            </a:prstGeom>
            <a:noFill/>
            <a:ln>
              <a:noFill/>
            </a:ln>
          </p:spPr>
        </p:pic>
        <p:pic>
          <p:nvPicPr>
            <p:cNvPr id="227" name="Google Shape;227;p49"/>
            <p:cNvPicPr preferRelativeResize="0"/>
            <p:nvPr/>
          </p:nvPicPr>
          <p:blipFill rotWithShape="1">
            <a:blip r:embed="rId5">
              <a:alphaModFix/>
            </a:blip>
            <a:srcRect b="0" l="0" r="0" t="0"/>
            <a:stretch/>
          </p:blipFill>
          <p:spPr>
            <a:xfrm>
              <a:off x="2555997" y="6413546"/>
              <a:ext cx="2040333" cy="450968"/>
            </a:xfrm>
            <a:prstGeom prst="rect">
              <a:avLst/>
            </a:prstGeom>
            <a:noFill/>
            <a:ln>
              <a:noFill/>
            </a:ln>
          </p:spPr>
        </p:pic>
        <p:cxnSp>
          <p:nvCxnSpPr>
            <p:cNvPr id="228" name="Google Shape;228;p49"/>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229" name="Google Shape;229;p49"/>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sp>
        <p:nvSpPr>
          <p:cNvPr id="230" name="Google Shape;230;p49"/>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1pPr>
            <a:lvl2pPr indent="0" lvl="1"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2pPr>
            <a:lvl3pPr indent="0" lvl="2"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3pPr>
            <a:lvl4pPr indent="0" lvl="3"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4pPr>
            <a:lvl5pPr indent="0" lvl="4"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5pPr>
            <a:lvl6pPr indent="0" lvl="5"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6pPr>
            <a:lvl7pPr indent="0" lvl="6"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7pPr>
            <a:lvl8pPr indent="0" lvl="7"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8pPr>
            <a:lvl9pPr indent="0" lvl="8" marL="0" algn="r">
              <a:lnSpc>
                <a:spcPct val="100000"/>
              </a:lnSpc>
              <a:spcBef>
                <a:spcPts val="0"/>
              </a:spcBef>
              <a:spcAft>
                <a:spcPts val="0"/>
              </a:spcAft>
              <a:buClr>
                <a:schemeClr val="lt1"/>
              </a:buClr>
              <a:buSzPts val="800"/>
              <a:buFont typeface="Helvetica Neue"/>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231" name="Google Shape;231;p49"/>
          <p:cNvSpPr txBox="1"/>
          <p:nvPr>
            <p:ph idx="1" type="body"/>
          </p:nvPr>
        </p:nvSpPr>
        <p:spPr>
          <a:xfrm>
            <a:off x="699331" y="2430928"/>
            <a:ext cx="3872670"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sz="1800">
                <a:solidFill>
                  <a:schemeClr val="lt1"/>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ey Bar" showMasterSp="0">
  <p:cSld name="Title Slide Grey Bar">
    <p:spTree>
      <p:nvGrpSpPr>
        <p:cNvPr id="232" name="Shape 232"/>
        <p:cNvGrpSpPr/>
        <p:nvPr/>
      </p:nvGrpSpPr>
      <p:grpSpPr>
        <a:xfrm>
          <a:off x="0" y="0"/>
          <a:ext cx="0" cy="0"/>
          <a:chOff x="0" y="0"/>
          <a:chExt cx="0" cy="0"/>
        </a:xfrm>
      </p:grpSpPr>
      <p:grpSp>
        <p:nvGrpSpPr>
          <p:cNvPr id="233" name="Google Shape;233;p50"/>
          <p:cNvGrpSpPr/>
          <p:nvPr/>
        </p:nvGrpSpPr>
        <p:grpSpPr>
          <a:xfrm>
            <a:off x="5166360" y="-71120"/>
            <a:ext cx="5773549" cy="6471920"/>
            <a:chOff x="5166787" y="-71120"/>
            <a:chExt cx="5773549" cy="6471920"/>
          </a:xfrm>
        </p:grpSpPr>
        <p:sp>
          <p:nvSpPr>
            <p:cNvPr id="234" name="Google Shape;234;p50"/>
            <p:cNvSpPr/>
            <p:nvPr/>
          </p:nvSpPr>
          <p:spPr>
            <a:xfrm>
              <a:off x="5306906" y="-71120"/>
              <a:ext cx="3840480" cy="647192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235" name="Google Shape;235;p50"/>
            <p:cNvPicPr preferRelativeResize="0"/>
            <p:nvPr/>
          </p:nvPicPr>
          <p:blipFill rotWithShape="1">
            <a:blip r:embed="rId2">
              <a:alphaModFix amt="15000"/>
            </a:blip>
            <a:srcRect b="0" l="0" r="0" t="0"/>
            <a:stretch/>
          </p:blipFill>
          <p:spPr>
            <a:xfrm>
              <a:off x="5166787" y="750290"/>
              <a:ext cx="5773549" cy="5051855"/>
            </a:xfrm>
            <a:prstGeom prst="rect">
              <a:avLst/>
            </a:prstGeom>
            <a:noFill/>
            <a:ln>
              <a:noFill/>
            </a:ln>
          </p:spPr>
        </p:pic>
      </p:grpSp>
      <p:sp>
        <p:nvSpPr>
          <p:cNvPr id="236" name="Google Shape;236;p50"/>
          <p:cNvSpPr txBox="1"/>
          <p:nvPr>
            <p:ph type="title"/>
          </p:nvPr>
        </p:nvSpPr>
        <p:spPr>
          <a:xfrm>
            <a:off x="628650" y="365126"/>
            <a:ext cx="4004733" cy="3044058"/>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50"/>
          <p:cNvSpPr txBox="1"/>
          <p:nvPr>
            <p:ph idx="1" type="body"/>
          </p:nvPr>
        </p:nvSpPr>
        <p:spPr>
          <a:xfrm>
            <a:off x="628650" y="3607755"/>
            <a:ext cx="4004733" cy="1660818"/>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800"/>
              <a:buNone/>
              <a:defRPr sz="1800">
                <a:solidFill>
                  <a:schemeClr val="dk2"/>
                </a:solidFill>
                <a:latin typeface="Helvetica Neue"/>
                <a:ea typeface="Helvetica Neue"/>
                <a:cs typeface="Helvetica Neue"/>
                <a:sym typeface="Helvetica Neue"/>
              </a:defRPr>
            </a:lvl1pPr>
            <a:lvl2pPr indent="-228600" lvl="1" marL="9144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2pPr>
            <a:lvl3pPr indent="-228600" lvl="2" marL="13716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3pPr>
            <a:lvl4pPr indent="-228600" lvl="3" marL="18288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4pPr>
            <a:lvl5pPr indent="-228600" lvl="4" marL="2286000" algn="l">
              <a:lnSpc>
                <a:spcPct val="90000"/>
              </a:lnSpc>
              <a:spcBef>
                <a:spcPts val="500"/>
              </a:spcBef>
              <a:spcAft>
                <a:spcPts val="0"/>
              </a:spcAft>
              <a:buSzPts val="1800"/>
              <a:buNone/>
              <a:defRPr sz="18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38" name="Google Shape;238;p50"/>
          <p:cNvGrpSpPr/>
          <p:nvPr/>
        </p:nvGrpSpPr>
        <p:grpSpPr>
          <a:xfrm>
            <a:off x="0" y="6396465"/>
            <a:ext cx="9144000" cy="470918"/>
            <a:chOff x="0" y="6396465"/>
            <a:chExt cx="9144000" cy="470918"/>
          </a:xfrm>
        </p:grpSpPr>
        <p:sp>
          <p:nvSpPr>
            <p:cNvPr id="239" name="Google Shape;239;p50"/>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40" name="Google Shape;240;p50"/>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241" name="Google Shape;241;p50"/>
            <p:cNvPicPr preferRelativeResize="0"/>
            <p:nvPr/>
          </p:nvPicPr>
          <p:blipFill rotWithShape="1">
            <a:blip r:embed="rId3">
              <a:alphaModFix/>
            </a:blip>
            <a:srcRect b="0" l="0" r="0" t="0"/>
            <a:stretch/>
          </p:blipFill>
          <p:spPr>
            <a:xfrm>
              <a:off x="496296" y="6409934"/>
              <a:ext cx="2094393" cy="451789"/>
            </a:xfrm>
            <a:prstGeom prst="rect">
              <a:avLst/>
            </a:prstGeom>
            <a:noFill/>
            <a:ln>
              <a:noFill/>
            </a:ln>
          </p:spPr>
        </p:pic>
        <p:pic>
          <p:nvPicPr>
            <p:cNvPr id="242" name="Google Shape;242;p50"/>
            <p:cNvPicPr preferRelativeResize="0"/>
            <p:nvPr/>
          </p:nvPicPr>
          <p:blipFill rotWithShape="1">
            <a:blip r:embed="rId4">
              <a:alphaModFix/>
            </a:blip>
            <a:srcRect b="0" l="0" r="0" t="0"/>
            <a:stretch/>
          </p:blipFill>
          <p:spPr>
            <a:xfrm>
              <a:off x="3903217" y="6398195"/>
              <a:ext cx="2088055" cy="462356"/>
            </a:xfrm>
            <a:prstGeom prst="rect">
              <a:avLst/>
            </a:prstGeom>
            <a:noFill/>
            <a:ln>
              <a:noFill/>
            </a:ln>
          </p:spPr>
        </p:pic>
        <p:pic>
          <p:nvPicPr>
            <p:cNvPr id="243" name="Google Shape;243;p50"/>
            <p:cNvPicPr preferRelativeResize="0"/>
            <p:nvPr/>
          </p:nvPicPr>
          <p:blipFill rotWithShape="1">
            <a:blip r:embed="rId5">
              <a:alphaModFix/>
            </a:blip>
            <a:srcRect b="0" l="0" r="0" t="0"/>
            <a:stretch/>
          </p:blipFill>
          <p:spPr>
            <a:xfrm>
              <a:off x="2555997" y="6413546"/>
              <a:ext cx="2040333" cy="450968"/>
            </a:xfrm>
            <a:prstGeom prst="rect">
              <a:avLst/>
            </a:prstGeom>
            <a:noFill/>
            <a:ln>
              <a:noFill/>
            </a:ln>
          </p:spPr>
        </p:pic>
        <p:cxnSp>
          <p:nvCxnSpPr>
            <p:cNvPr id="244" name="Google Shape;244;p50"/>
            <p:cNvCxnSpPr/>
            <p:nvPr/>
          </p:nvCxnSpPr>
          <p:spPr>
            <a:xfrm>
              <a:off x="2574916" y="6512483"/>
              <a:ext cx="0" cy="250701"/>
            </a:xfrm>
            <a:prstGeom prst="straightConnector1">
              <a:avLst/>
            </a:prstGeom>
            <a:noFill/>
            <a:ln cap="flat" cmpd="sng" w="9525">
              <a:solidFill>
                <a:schemeClr val="lt1"/>
              </a:solidFill>
              <a:prstDash val="solid"/>
              <a:miter lim="800000"/>
              <a:headEnd len="sm" w="sm" type="none"/>
              <a:tailEnd len="sm" w="sm" type="none"/>
            </a:ln>
          </p:spPr>
        </p:cxnSp>
        <p:cxnSp>
          <p:nvCxnSpPr>
            <p:cNvPr id="245" name="Google Shape;245;p50"/>
            <p:cNvCxnSpPr/>
            <p:nvPr/>
          </p:nvCxnSpPr>
          <p:spPr>
            <a:xfrm>
              <a:off x="3930641" y="6512483"/>
              <a:ext cx="0" cy="250701"/>
            </a:xfrm>
            <a:prstGeom prst="straightConnector1">
              <a:avLst/>
            </a:prstGeom>
            <a:noFill/>
            <a:ln cap="flat" cmpd="sng" w="9525">
              <a:solidFill>
                <a:schemeClr val="lt1"/>
              </a:solidFill>
              <a:prstDash val="solid"/>
              <a:miter lim="800000"/>
              <a:headEnd len="sm" w="sm" type="none"/>
              <a:tailEnd len="sm" w="sm" type="none"/>
            </a:ln>
          </p:spPr>
        </p:cxnSp>
      </p:grpSp>
      <p:pic>
        <p:nvPicPr>
          <p:cNvPr id="246" name="Google Shape;246;p50"/>
          <p:cNvPicPr preferRelativeResize="0"/>
          <p:nvPr/>
        </p:nvPicPr>
        <p:blipFill rotWithShape="1">
          <a:blip r:embed="rId2">
            <a:alphaModFix amt="15000"/>
          </a:blip>
          <a:srcRect b="0" l="0" r="0" t="0"/>
          <a:stretch/>
        </p:blipFill>
        <p:spPr>
          <a:xfrm>
            <a:off x="5166787" y="768096"/>
            <a:ext cx="5773549" cy="505185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7" name="Shape 247"/>
        <p:cNvGrpSpPr/>
        <p:nvPr/>
      </p:nvGrpSpPr>
      <p:grpSpPr>
        <a:xfrm>
          <a:off x="0" y="0"/>
          <a:ext cx="0" cy="0"/>
          <a:chOff x="0" y="0"/>
          <a:chExt cx="0" cy="0"/>
        </a:xfrm>
      </p:grpSpPr>
      <p:sp>
        <p:nvSpPr>
          <p:cNvPr id="248" name="Google Shape;248;p51"/>
          <p:cNvSpPr txBox="1"/>
          <p:nvPr>
            <p:ph idx="1" type="body"/>
          </p:nvPr>
        </p:nvSpPr>
        <p:spPr>
          <a:xfrm>
            <a:off x="4629150" y="1825625"/>
            <a:ext cx="3886200" cy="4351338"/>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1000"/>
              </a:spcBef>
              <a:spcAft>
                <a:spcPts val="0"/>
              </a:spcAft>
              <a:buSzPts val="2400"/>
              <a:buChar char="•"/>
              <a:defRPr sz="2400">
                <a:solidFill>
                  <a:schemeClr val="dk2"/>
                </a:solidFill>
                <a:latin typeface="Helvetica Neue"/>
                <a:ea typeface="Helvetica Neue"/>
                <a:cs typeface="Helvetica Neue"/>
                <a:sym typeface="Helvetica Neue"/>
              </a:defRPr>
            </a:lvl1pPr>
            <a:lvl2pPr indent="-355600" lvl="1" marL="914400" algn="l">
              <a:lnSpc>
                <a:spcPct val="90000"/>
              </a:lnSpc>
              <a:spcBef>
                <a:spcPts val="500"/>
              </a:spcBef>
              <a:spcAft>
                <a:spcPts val="0"/>
              </a:spcAft>
              <a:buSzPts val="2000"/>
              <a:buChar char="•"/>
              <a:defRPr sz="2000">
                <a:solidFill>
                  <a:schemeClr val="dk2"/>
                </a:solidFill>
                <a:latin typeface="Helvetica Neue"/>
                <a:ea typeface="Helvetica Neue"/>
                <a:cs typeface="Helvetica Neue"/>
                <a:sym typeface="Helvetica Neue"/>
              </a:defRPr>
            </a:lvl2pPr>
            <a:lvl3pPr indent="-342900" lvl="2" marL="1371600" algn="l">
              <a:lnSpc>
                <a:spcPct val="90000"/>
              </a:lnSpc>
              <a:spcBef>
                <a:spcPts val="500"/>
              </a:spcBef>
              <a:spcAft>
                <a:spcPts val="0"/>
              </a:spcAft>
              <a:buSzPts val="1800"/>
              <a:buChar char="•"/>
              <a:defRPr sz="1800">
                <a:solidFill>
                  <a:schemeClr val="dk2"/>
                </a:solidFill>
                <a:latin typeface="Helvetica Neue"/>
                <a:ea typeface="Helvetica Neue"/>
                <a:cs typeface="Helvetica Neue"/>
                <a:sym typeface="Helvetica Neue"/>
              </a:defRPr>
            </a:lvl3pPr>
            <a:lvl4pPr indent="-330200" lvl="3" marL="1828800" algn="l">
              <a:lnSpc>
                <a:spcPct val="90000"/>
              </a:lnSpc>
              <a:spcBef>
                <a:spcPts val="500"/>
              </a:spcBef>
              <a:spcAft>
                <a:spcPts val="0"/>
              </a:spcAft>
              <a:buSzPts val="1600"/>
              <a:buChar char="•"/>
              <a:defRPr sz="1600">
                <a:solidFill>
                  <a:schemeClr val="dk2"/>
                </a:solidFill>
                <a:latin typeface="Helvetica Neue"/>
                <a:ea typeface="Helvetica Neue"/>
                <a:cs typeface="Helvetica Neue"/>
                <a:sym typeface="Helvetica Neue"/>
              </a:defRPr>
            </a:lvl4pPr>
            <a:lvl5pPr indent="-317500" lvl="4" marL="2286000" algn="l">
              <a:lnSpc>
                <a:spcPct val="90000"/>
              </a:lnSpc>
              <a:spcBef>
                <a:spcPts val="500"/>
              </a:spcBef>
              <a:spcAft>
                <a:spcPts val="0"/>
              </a:spcAft>
              <a:buSzPts val="1400"/>
              <a:buChar char="•"/>
              <a:defRPr sz="14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51"/>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sp>
        <p:nvSpPr>
          <p:cNvPr id="250" name="Google Shape;250;p51"/>
          <p:cNvSpPr txBox="1"/>
          <p:nvPr>
            <p:ph idx="2" type="body"/>
          </p:nvPr>
        </p:nvSpPr>
        <p:spPr>
          <a:xfrm>
            <a:off x="628650" y="1825625"/>
            <a:ext cx="3886200" cy="4351338"/>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1000"/>
              </a:spcBef>
              <a:spcAft>
                <a:spcPts val="0"/>
              </a:spcAft>
              <a:buSzPts val="2400"/>
              <a:buChar char="•"/>
              <a:defRPr sz="2400">
                <a:solidFill>
                  <a:schemeClr val="dk2"/>
                </a:solidFill>
                <a:latin typeface="Helvetica Neue"/>
                <a:ea typeface="Helvetica Neue"/>
                <a:cs typeface="Helvetica Neue"/>
                <a:sym typeface="Helvetica Neue"/>
              </a:defRPr>
            </a:lvl1pPr>
            <a:lvl2pPr indent="-355600" lvl="1" marL="914400" algn="l">
              <a:lnSpc>
                <a:spcPct val="90000"/>
              </a:lnSpc>
              <a:spcBef>
                <a:spcPts val="500"/>
              </a:spcBef>
              <a:spcAft>
                <a:spcPts val="0"/>
              </a:spcAft>
              <a:buSzPts val="2000"/>
              <a:buChar char="•"/>
              <a:defRPr sz="2000">
                <a:solidFill>
                  <a:schemeClr val="dk2"/>
                </a:solidFill>
                <a:latin typeface="Helvetica Neue"/>
                <a:ea typeface="Helvetica Neue"/>
                <a:cs typeface="Helvetica Neue"/>
                <a:sym typeface="Helvetica Neue"/>
              </a:defRPr>
            </a:lvl2pPr>
            <a:lvl3pPr indent="-342900" lvl="2" marL="1371600" algn="l">
              <a:lnSpc>
                <a:spcPct val="90000"/>
              </a:lnSpc>
              <a:spcBef>
                <a:spcPts val="500"/>
              </a:spcBef>
              <a:spcAft>
                <a:spcPts val="0"/>
              </a:spcAft>
              <a:buSzPts val="1800"/>
              <a:buChar char="•"/>
              <a:defRPr sz="1800">
                <a:solidFill>
                  <a:schemeClr val="dk2"/>
                </a:solidFill>
                <a:latin typeface="Helvetica Neue"/>
                <a:ea typeface="Helvetica Neue"/>
                <a:cs typeface="Helvetica Neue"/>
                <a:sym typeface="Helvetica Neue"/>
              </a:defRPr>
            </a:lvl3pPr>
            <a:lvl4pPr indent="-330200" lvl="3" marL="1828800" algn="l">
              <a:lnSpc>
                <a:spcPct val="90000"/>
              </a:lnSpc>
              <a:spcBef>
                <a:spcPts val="500"/>
              </a:spcBef>
              <a:spcAft>
                <a:spcPts val="0"/>
              </a:spcAft>
              <a:buSzPts val="1600"/>
              <a:buChar char="•"/>
              <a:defRPr sz="1600">
                <a:solidFill>
                  <a:schemeClr val="dk2"/>
                </a:solidFill>
                <a:latin typeface="Helvetica Neue"/>
                <a:ea typeface="Helvetica Neue"/>
                <a:cs typeface="Helvetica Neue"/>
                <a:sym typeface="Helvetica Neue"/>
              </a:defRPr>
            </a:lvl4pPr>
            <a:lvl5pPr indent="-317500" lvl="4" marL="2286000" algn="l">
              <a:lnSpc>
                <a:spcPct val="90000"/>
              </a:lnSpc>
              <a:spcBef>
                <a:spcPts val="500"/>
              </a:spcBef>
              <a:spcAft>
                <a:spcPts val="0"/>
              </a:spcAft>
              <a:buSzPts val="1400"/>
              <a:buChar char="•"/>
              <a:defRPr sz="1400">
                <a:solidFill>
                  <a:schemeClr val="dk2"/>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p51"/>
          <p:cNvSpPr txBox="1"/>
          <p:nvPr>
            <p:ph type="title"/>
          </p:nvPr>
        </p:nvSpPr>
        <p:spPr>
          <a:xfrm>
            <a:off x="628650" y="6477"/>
            <a:ext cx="7886700" cy="1325563"/>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accent1"/>
              </a:buClr>
              <a:buSzPts val="3600"/>
              <a:buFont typeface="Helvetica Neue"/>
              <a:buNone/>
              <a:defRPr sz="36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2" name="Shape 252"/>
        <p:cNvGrpSpPr/>
        <p:nvPr/>
      </p:nvGrpSpPr>
      <p:grpSpPr>
        <a:xfrm>
          <a:off x="0" y="0"/>
          <a:ext cx="0" cy="0"/>
          <a:chOff x="0" y="0"/>
          <a:chExt cx="0" cy="0"/>
        </a:xfrm>
      </p:grpSpPr>
      <p:sp>
        <p:nvSpPr>
          <p:cNvPr id="253" name="Google Shape;253;p52"/>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800"/>
              <a:buFont typeface="Helvetica Neue"/>
              <a:buNone/>
              <a:defRPr/>
            </a:lvl1pPr>
            <a:lvl2pPr indent="0" lvl="1" marL="0" marR="0" algn="r">
              <a:lnSpc>
                <a:spcPct val="100000"/>
              </a:lnSpc>
              <a:spcBef>
                <a:spcPts val="0"/>
              </a:spcBef>
              <a:spcAft>
                <a:spcPts val="0"/>
              </a:spcAft>
              <a:buClr>
                <a:schemeClr val="lt1"/>
              </a:buClr>
              <a:buSzPts val="800"/>
              <a:buFont typeface="Helvetica Neue"/>
              <a:buNone/>
              <a:defRPr/>
            </a:lvl2pPr>
            <a:lvl3pPr indent="0" lvl="2" marL="0" marR="0" algn="r">
              <a:lnSpc>
                <a:spcPct val="100000"/>
              </a:lnSpc>
              <a:spcBef>
                <a:spcPts val="0"/>
              </a:spcBef>
              <a:spcAft>
                <a:spcPts val="0"/>
              </a:spcAft>
              <a:buClr>
                <a:schemeClr val="lt1"/>
              </a:buClr>
              <a:buSzPts val="800"/>
              <a:buFont typeface="Helvetica Neue"/>
              <a:buNone/>
              <a:defRPr/>
            </a:lvl3pPr>
            <a:lvl4pPr indent="0" lvl="3" marL="0" marR="0" algn="r">
              <a:lnSpc>
                <a:spcPct val="100000"/>
              </a:lnSpc>
              <a:spcBef>
                <a:spcPts val="0"/>
              </a:spcBef>
              <a:spcAft>
                <a:spcPts val="0"/>
              </a:spcAft>
              <a:buClr>
                <a:schemeClr val="lt1"/>
              </a:buClr>
              <a:buSzPts val="800"/>
              <a:buFont typeface="Helvetica Neue"/>
              <a:buNone/>
              <a:defRPr/>
            </a:lvl4pPr>
            <a:lvl5pPr indent="0" lvl="4" marL="0" marR="0" algn="r">
              <a:lnSpc>
                <a:spcPct val="100000"/>
              </a:lnSpc>
              <a:spcBef>
                <a:spcPts val="0"/>
              </a:spcBef>
              <a:spcAft>
                <a:spcPts val="0"/>
              </a:spcAft>
              <a:buClr>
                <a:schemeClr val="lt1"/>
              </a:buClr>
              <a:buSzPts val="800"/>
              <a:buFont typeface="Helvetica Neue"/>
              <a:buNone/>
              <a:defRPr/>
            </a:lvl5pPr>
            <a:lvl6pPr indent="0" lvl="5" marL="0" marR="0" algn="r">
              <a:lnSpc>
                <a:spcPct val="100000"/>
              </a:lnSpc>
              <a:spcBef>
                <a:spcPts val="0"/>
              </a:spcBef>
              <a:spcAft>
                <a:spcPts val="0"/>
              </a:spcAft>
              <a:buClr>
                <a:schemeClr val="lt1"/>
              </a:buClr>
              <a:buSzPts val="800"/>
              <a:buFont typeface="Helvetica Neue"/>
              <a:buNone/>
              <a:defRPr/>
            </a:lvl6pPr>
            <a:lvl7pPr indent="0" lvl="6" marL="0" marR="0" algn="r">
              <a:lnSpc>
                <a:spcPct val="100000"/>
              </a:lnSpc>
              <a:spcBef>
                <a:spcPts val="0"/>
              </a:spcBef>
              <a:spcAft>
                <a:spcPts val="0"/>
              </a:spcAft>
              <a:buClr>
                <a:schemeClr val="lt1"/>
              </a:buClr>
              <a:buSzPts val="800"/>
              <a:buFont typeface="Helvetica Neue"/>
              <a:buNone/>
              <a:defRPr/>
            </a:lvl7pPr>
            <a:lvl8pPr indent="0" lvl="7" marL="0" marR="0" algn="r">
              <a:lnSpc>
                <a:spcPct val="100000"/>
              </a:lnSpc>
              <a:spcBef>
                <a:spcPts val="0"/>
              </a:spcBef>
              <a:spcAft>
                <a:spcPts val="0"/>
              </a:spcAft>
              <a:buClr>
                <a:schemeClr val="lt1"/>
              </a:buClr>
              <a:buSzPts val="800"/>
              <a:buFont typeface="Helvetica Neue"/>
              <a:buNone/>
              <a:defRPr/>
            </a:lvl8pPr>
            <a:lvl9pPr indent="0" lvl="8" marL="0" marR="0" algn="r">
              <a:lnSpc>
                <a:spcPct val="100000"/>
              </a:lnSpc>
              <a:spcBef>
                <a:spcPts val="0"/>
              </a:spcBef>
              <a:spcAft>
                <a:spcPts val="0"/>
              </a:spcAft>
              <a:buClr>
                <a:schemeClr val="lt1"/>
              </a:buClr>
              <a:buSzPts val="800"/>
              <a:buFont typeface="Helvetica Neue"/>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29"/>
          <p:cNvGrpSpPr/>
          <p:nvPr/>
        </p:nvGrpSpPr>
        <p:grpSpPr>
          <a:xfrm>
            <a:off x="0" y="6396465"/>
            <a:ext cx="9144000" cy="470918"/>
            <a:chOff x="0" y="6396465"/>
            <a:chExt cx="9144000" cy="470918"/>
          </a:xfrm>
        </p:grpSpPr>
        <p:sp>
          <p:nvSpPr>
            <p:cNvPr id="11" name="Google Shape;11;p29"/>
            <p:cNvSpPr/>
            <p:nvPr/>
          </p:nvSpPr>
          <p:spPr>
            <a:xfrm>
              <a:off x="0" y="6401039"/>
              <a:ext cx="9144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cxnSp>
          <p:nvCxnSpPr>
            <p:cNvPr id="12" name="Google Shape;12;p29"/>
            <p:cNvCxnSpPr/>
            <p:nvPr/>
          </p:nvCxnSpPr>
          <p:spPr>
            <a:xfrm>
              <a:off x="0" y="6396465"/>
              <a:ext cx="9144000" cy="0"/>
            </a:xfrm>
            <a:prstGeom prst="straightConnector1">
              <a:avLst/>
            </a:prstGeom>
            <a:noFill/>
            <a:ln cap="flat" cmpd="sng" w="9525">
              <a:solidFill>
                <a:srgbClr val="D6D6CE"/>
              </a:solidFill>
              <a:prstDash val="solid"/>
              <a:miter lim="800000"/>
              <a:headEnd len="sm" w="sm" type="none"/>
              <a:tailEnd len="sm" w="sm" type="none"/>
            </a:ln>
          </p:spPr>
        </p:cxnSp>
        <p:pic>
          <p:nvPicPr>
            <p:cNvPr id="13" name="Google Shape;13;p29"/>
            <p:cNvPicPr preferRelativeResize="0"/>
            <p:nvPr/>
          </p:nvPicPr>
          <p:blipFill rotWithShape="1">
            <a:blip r:embed="rId1">
              <a:alphaModFix/>
            </a:blip>
            <a:srcRect b="0" l="0" r="40943" t="0"/>
            <a:stretch/>
          </p:blipFill>
          <p:spPr>
            <a:xfrm>
              <a:off x="496300" y="6409925"/>
              <a:ext cx="1236850" cy="451800"/>
            </a:xfrm>
            <a:prstGeom prst="rect">
              <a:avLst/>
            </a:prstGeom>
            <a:noFill/>
            <a:ln>
              <a:noFill/>
            </a:ln>
          </p:spPr>
        </p:pic>
      </p:grpSp>
      <p:sp>
        <p:nvSpPr>
          <p:cNvPr id="14" name="Google Shape;14;p29"/>
          <p:cNvSpPr txBox="1"/>
          <p:nvPr>
            <p:ph idx="12" type="sldNum"/>
          </p:nvPr>
        </p:nvSpPr>
        <p:spPr>
          <a:xfrm>
            <a:off x="8515349" y="6456764"/>
            <a:ext cx="460573"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chemeClr val="lt1"/>
              </a:buClr>
              <a:buSzPts val="800"/>
              <a:buFont typeface="Helvetica Neue"/>
              <a:buNone/>
              <a:defRPr b="0" i="0" sz="800" u="none" cap="none" strike="noStrike">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29"/>
          <p:cNvCxnSpPr/>
          <p:nvPr/>
        </p:nvCxnSpPr>
        <p:spPr>
          <a:xfrm>
            <a:off x="0" y="1345193"/>
            <a:ext cx="9144000" cy="0"/>
          </a:xfrm>
          <a:prstGeom prst="straightConnector1">
            <a:avLst/>
          </a:prstGeom>
          <a:noFill/>
          <a:ln cap="flat" cmpd="sng" w="38100">
            <a:solidFill>
              <a:srgbClr val="D6D6CE"/>
            </a:solidFill>
            <a:prstDash val="solid"/>
            <a:miter lim="800000"/>
            <a:headEnd len="sm" w="sm" type="none"/>
            <a:tailEnd len="sm" w="sm" type="none"/>
          </a:ln>
        </p:spPr>
      </p:cxnSp>
      <p:cxnSp>
        <p:nvCxnSpPr>
          <p:cNvPr id="16" name="Google Shape;16;p29"/>
          <p:cNvCxnSpPr/>
          <p:nvPr/>
        </p:nvCxnSpPr>
        <p:spPr>
          <a:xfrm>
            <a:off x="0" y="1345193"/>
            <a:ext cx="9144000" cy="0"/>
          </a:xfrm>
          <a:prstGeom prst="straightConnector1">
            <a:avLst/>
          </a:prstGeom>
          <a:noFill/>
          <a:ln cap="flat" cmpd="sng" w="38100">
            <a:solidFill>
              <a:srgbClr val="D6D6CE"/>
            </a:solidFill>
            <a:prstDash val="solid"/>
            <a:miter lim="800000"/>
            <a:headEnd len="sm" w="sm" type="none"/>
            <a:tailEnd len="sm" w="sm" type="none"/>
          </a:ln>
        </p:spPr>
      </p:cxnSp>
      <p:sp>
        <p:nvSpPr>
          <p:cNvPr id="17" name="Google Shape;17;p29"/>
          <p:cNvSpPr txBox="1"/>
          <p:nvPr>
            <p:ph idx="1" type="body"/>
          </p:nvPr>
        </p:nvSpPr>
        <p:spPr>
          <a:xfrm>
            <a:off x="628650" y="1691640"/>
            <a:ext cx="7886700" cy="4351338"/>
          </a:xfrm>
          <a:prstGeom prst="rect">
            <a:avLst/>
          </a:prstGeom>
          <a:noFill/>
          <a:ln>
            <a:noFill/>
          </a:ln>
        </p:spPr>
        <p:txBody>
          <a:bodyPr anchorCtr="0" anchor="t" bIns="45700" lIns="0" spcFirstLastPara="1" rIns="0" wrap="square" tIns="45700">
            <a:normAutofit/>
          </a:bodyPr>
          <a:lstStyle>
            <a:lvl1pPr indent="-381000" lvl="0" marL="457200" marR="0" rtl="0" algn="l">
              <a:lnSpc>
                <a:spcPct val="90000"/>
              </a:lnSpc>
              <a:spcBef>
                <a:spcPts val="1000"/>
              </a:spcBef>
              <a:spcAft>
                <a:spcPts val="0"/>
              </a:spcAft>
              <a:buClr>
                <a:srgbClr val="800000"/>
              </a:buClr>
              <a:buSzPts val="2400"/>
              <a:buFont typeface="Arial"/>
              <a:buChar char="•"/>
              <a:defRPr b="0" i="0" sz="2400" u="none" cap="none" strike="noStrike">
                <a:solidFill>
                  <a:schemeClr val="dk2"/>
                </a:solidFill>
                <a:latin typeface="Helvetica Neue"/>
                <a:ea typeface="Helvetica Neue"/>
                <a:cs typeface="Helvetica Neue"/>
                <a:sym typeface="Helvetica Neue"/>
              </a:defRPr>
            </a:lvl1pPr>
            <a:lvl2pPr indent="-355600" lvl="1" marL="914400" marR="0" rtl="0" algn="l">
              <a:lnSpc>
                <a:spcPct val="90000"/>
              </a:lnSpc>
              <a:spcBef>
                <a:spcPts val="500"/>
              </a:spcBef>
              <a:spcAft>
                <a:spcPts val="0"/>
              </a:spcAft>
              <a:buClr>
                <a:srgbClr val="800000"/>
              </a:buClr>
              <a:buSzPts val="2000"/>
              <a:buFont typeface="Arial"/>
              <a:buChar char="•"/>
              <a:defRPr b="0" i="0" sz="2000" u="none" cap="none" strike="noStrike">
                <a:solidFill>
                  <a:schemeClr val="dk2"/>
                </a:solidFill>
                <a:latin typeface="Helvetica Neue"/>
                <a:ea typeface="Helvetica Neue"/>
                <a:cs typeface="Helvetica Neue"/>
                <a:sym typeface="Helvetica Neue"/>
              </a:defRPr>
            </a:lvl2pPr>
            <a:lvl3pPr indent="-342900" lvl="2" marL="1371600" marR="0" rtl="0" algn="l">
              <a:lnSpc>
                <a:spcPct val="90000"/>
              </a:lnSpc>
              <a:spcBef>
                <a:spcPts val="500"/>
              </a:spcBef>
              <a:spcAft>
                <a:spcPts val="0"/>
              </a:spcAft>
              <a:buClr>
                <a:srgbClr val="800000"/>
              </a:buClr>
              <a:buSzPts val="1800"/>
              <a:buFont typeface="Arial"/>
              <a:buChar char="•"/>
              <a:defRPr b="0" i="0" sz="1800" u="none" cap="none" strike="noStrike">
                <a:solidFill>
                  <a:schemeClr val="dk2"/>
                </a:solidFill>
                <a:latin typeface="Helvetica Neue"/>
                <a:ea typeface="Helvetica Neue"/>
                <a:cs typeface="Helvetica Neue"/>
                <a:sym typeface="Helvetica Neue"/>
              </a:defRPr>
            </a:lvl3pPr>
            <a:lvl4pPr indent="-330200" lvl="3" marL="1828800" marR="0" rtl="0" algn="l">
              <a:lnSpc>
                <a:spcPct val="90000"/>
              </a:lnSpc>
              <a:spcBef>
                <a:spcPts val="500"/>
              </a:spcBef>
              <a:spcAft>
                <a:spcPts val="0"/>
              </a:spcAft>
              <a:buClr>
                <a:srgbClr val="800000"/>
              </a:buClr>
              <a:buSzPts val="1600"/>
              <a:buFont typeface="Arial"/>
              <a:buChar char="•"/>
              <a:defRPr b="0" i="0" sz="1600" u="none" cap="none" strike="noStrike">
                <a:solidFill>
                  <a:schemeClr val="dk2"/>
                </a:solidFill>
                <a:latin typeface="Helvetica Neue"/>
                <a:ea typeface="Helvetica Neue"/>
                <a:cs typeface="Helvetica Neue"/>
                <a:sym typeface="Helvetica Neue"/>
              </a:defRPr>
            </a:lvl4pPr>
            <a:lvl5pPr indent="-317500" lvl="4" marL="2286000" marR="0" rtl="0" algn="l">
              <a:lnSpc>
                <a:spcPct val="90000"/>
              </a:lnSpc>
              <a:spcBef>
                <a:spcPts val="500"/>
              </a:spcBef>
              <a:spcAft>
                <a:spcPts val="0"/>
              </a:spcAft>
              <a:buClr>
                <a:srgbClr val="800000"/>
              </a:buClr>
              <a:buSzPts val="1400"/>
              <a:buFont typeface="Arial"/>
              <a:buChar char="•"/>
              <a:defRPr b="0" i="0" sz="1400" u="none" cap="none" strike="noStrike">
                <a:solidFill>
                  <a:schemeClr val="dk2"/>
                </a:solidFill>
                <a:latin typeface="Helvetica Neue"/>
                <a:ea typeface="Helvetica Neue"/>
                <a:cs typeface="Helvetica Neue"/>
                <a:sym typeface="Helvetica Neue"/>
              </a:defRPr>
            </a:lvl5pPr>
            <a:lvl6pPr indent="-304800" lvl="5" marL="27432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381000" lvl="6" marL="3200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7pPr>
            <a:lvl8pPr indent="-279400" lvl="7" marL="3657600" marR="0" rtl="0" algn="l">
              <a:lnSpc>
                <a:spcPct val="90000"/>
              </a:lnSpc>
              <a:spcBef>
                <a:spcPts val="5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8pPr>
            <a:lvl9pPr indent="-381000" lvl="8" marL="4114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9pPr>
          </a:lstStyle>
          <a:p/>
        </p:txBody>
      </p:sp>
      <p:sp>
        <p:nvSpPr>
          <p:cNvPr id="18" name="Google Shape;18;p29"/>
          <p:cNvSpPr txBox="1"/>
          <p:nvPr>
            <p:ph type="title"/>
          </p:nvPr>
        </p:nvSpPr>
        <p:spPr>
          <a:xfrm>
            <a:off x="628650" y="0"/>
            <a:ext cx="7886700" cy="1325563"/>
          </a:xfrm>
          <a:prstGeom prst="rect">
            <a:avLst/>
          </a:prstGeom>
          <a:noFill/>
          <a:ln>
            <a:noFill/>
          </a:ln>
        </p:spPr>
        <p:txBody>
          <a:bodyPr anchorCtr="0" anchor="ctr" bIns="45700" lIns="0" spcFirstLastPara="1" rIns="0" wrap="square" tIns="45700">
            <a:normAutofit/>
          </a:bodyPr>
          <a:lstStyle>
            <a:lvl1pPr lvl="0" marR="0" rtl="0" algn="l">
              <a:lnSpc>
                <a:spcPct val="90000"/>
              </a:lnSpc>
              <a:spcBef>
                <a:spcPts val="0"/>
              </a:spcBef>
              <a:spcAft>
                <a:spcPts val="0"/>
              </a:spcAft>
              <a:buClr>
                <a:schemeClr val="accent1"/>
              </a:buClr>
              <a:buSzPts val="3600"/>
              <a:buFont typeface="Helvetica Neue"/>
              <a:buNone/>
              <a:defRPr b="0" i="0" sz="3600" u="none" cap="none" strike="noStrike">
                <a:solidFill>
                  <a:schemeClr val="accent1"/>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hyperlink" Target="https://fred.stlouisfed.org/series/UNRATE?utm_source=chatgpt.com" TargetMode="External"/><Relationship Id="rId4" Type="http://schemas.openxmlformats.org/officeDocument/2006/relationships/hyperlink" Target="https://fred.stlouisfed.org/series/JTSJOL?utm_source=chatgpt.com" TargetMode="External"/><Relationship Id="rId5" Type="http://schemas.openxmlformats.org/officeDocument/2006/relationships/hyperlink" Target="https://fred.stlouisfed.org/series/ICSA" TargetMode="External"/><Relationship Id="rId6" Type="http://schemas.openxmlformats.org/officeDocument/2006/relationships/hyperlink" Target="https://fred.stlouisfed.org/series/CCS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hyperlink" Target="https://fred.stlouisfed.org/series/CPIAUCSL" TargetMode="External"/><Relationship Id="rId4" Type="http://schemas.openxmlformats.org/officeDocument/2006/relationships/hyperlink" Target="https://fred.stlouisfed.org/series/FEDFUNDS" TargetMode="External"/><Relationship Id="rId5" Type="http://schemas.openxmlformats.org/officeDocument/2006/relationships/hyperlink" Target="https://fred.stlouisfed.org/series/FEDFUNDS" TargetMode="External"/><Relationship Id="rId6" Type="http://schemas.openxmlformats.org/officeDocument/2006/relationships/hyperlink" Target="https://fred.stlouisfed.org/series/PAYEMS?utm_source=chatgpt.com" TargetMode="External"/><Relationship Id="rId7" Type="http://schemas.openxmlformats.org/officeDocument/2006/relationships/hyperlink" Target="https://fred.stlouisfed.org/series/PAYEMS?utm_source=chatgpt.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txBox="1"/>
          <p:nvPr>
            <p:ph type="title"/>
          </p:nvPr>
        </p:nvSpPr>
        <p:spPr>
          <a:xfrm>
            <a:off x="626238" y="2068402"/>
            <a:ext cx="7891500" cy="1772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accent1"/>
              </a:buClr>
              <a:buSzPts val="3600"/>
              <a:buFont typeface="Helvetica Neue"/>
              <a:buNone/>
            </a:pPr>
            <a:r>
              <a:rPr b="1" lang="en-US" sz="3400"/>
              <a:t>Predicting the U-3 Labor Underutilization Rate: December 2025</a:t>
            </a:r>
            <a:endParaRPr b="1" sz="3400"/>
          </a:p>
        </p:txBody>
      </p:sp>
      <p:sp>
        <p:nvSpPr>
          <p:cNvPr id="259" name="Google Shape;259;p7"/>
          <p:cNvSpPr txBox="1"/>
          <p:nvPr>
            <p:ph idx="1" type="body"/>
          </p:nvPr>
        </p:nvSpPr>
        <p:spPr>
          <a:xfrm>
            <a:off x="635800" y="3879680"/>
            <a:ext cx="7877100" cy="43200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SzPts val="1800"/>
              <a:buNone/>
            </a:pPr>
            <a:r>
              <a:rPr lang="en-US"/>
              <a:t>Statistical Models for Data Science - Analysis Challenge</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
        <p:nvSpPr>
          <p:cNvPr id="260" name="Google Shape;260;p7"/>
          <p:cNvSpPr txBox="1"/>
          <p:nvPr/>
        </p:nvSpPr>
        <p:spPr>
          <a:xfrm>
            <a:off x="626250" y="4526450"/>
            <a:ext cx="7607400" cy="1455600"/>
          </a:xfrm>
          <a:prstGeom prst="rect">
            <a:avLst/>
          </a:prstGeom>
          <a:noFill/>
          <a:ln>
            <a:noFill/>
          </a:ln>
        </p:spPr>
        <p:txBody>
          <a:bodyPr anchorCtr="0" anchor="t" bIns="91425" lIns="91425" spcFirstLastPara="1" rIns="91425" wrap="square" tIns="91425">
            <a:noAutofit/>
          </a:bodyPr>
          <a:lstStyle/>
          <a:p>
            <a:pPr indent="-57150" lvl="0" marL="0" marR="0" rtl="0" algn="l">
              <a:lnSpc>
                <a:spcPct val="115000"/>
              </a:lnSpc>
              <a:spcBef>
                <a:spcPts val="0"/>
              </a:spcBef>
              <a:spcAft>
                <a:spcPts val="0"/>
              </a:spcAft>
              <a:buClr>
                <a:srgbClr val="000000"/>
              </a:buClr>
              <a:buSzPts val="1800"/>
              <a:buFont typeface="Arial"/>
              <a:buNone/>
            </a:pPr>
            <a:r>
              <a:rPr i="1" lang="en-US" sz="1800">
                <a:solidFill>
                  <a:schemeClr val="lt1"/>
                </a:solidFill>
                <a:latin typeface="Helvetica Neue"/>
                <a:ea typeface="Helvetica Neue"/>
                <a:cs typeface="Helvetica Neue"/>
                <a:sym typeface="Helvetica Neue"/>
              </a:rPr>
              <a:t>Team: Group 8 </a:t>
            </a:r>
            <a:endParaRPr i="1" sz="1800">
              <a:solidFill>
                <a:schemeClr val="lt1"/>
              </a:solidFill>
              <a:latin typeface="Helvetica Neue"/>
              <a:ea typeface="Helvetica Neue"/>
              <a:cs typeface="Helvetica Neue"/>
              <a:sym typeface="Helvetica Neue"/>
            </a:endParaRPr>
          </a:p>
          <a:p>
            <a:pPr indent="-57150" lvl="0" marL="0" marR="0" rtl="0" algn="l">
              <a:lnSpc>
                <a:spcPct val="115000"/>
              </a:lnSpc>
              <a:spcBef>
                <a:spcPts val="0"/>
              </a:spcBef>
              <a:spcAft>
                <a:spcPts val="0"/>
              </a:spcAft>
              <a:buClr>
                <a:srgbClr val="000000"/>
              </a:buClr>
              <a:buSzPts val="1800"/>
              <a:buFont typeface="Arial"/>
              <a:buNone/>
            </a:pPr>
            <a:r>
              <a:rPr i="1" lang="en-US" sz="1800">
                <a:solidFill>
                  <a:schemeClr val="lt1"/>
                </a:solidFill>
                <a:latin typeface="Helvetica Neue"/>
                <a:ea typeface="Helvetica Neue"/>
                <a:cs typeface="Helvetica Neue"/>
                <a:sym typeface="Helvetica Neue"/>
              </a:rPr>
              <a:t>Devanshu Khadka, Mahima Goyal, Jiayi Hui, Sadaf Khan</a:t>
            </a:r>
            <a:endParaRPr i="1" sz="1800">
              <a:solidFill>
                <a:schemeClr val="lt1"/>
              </a:solidFill>
              <a:latin typeface="Helvetica Neue"/>
              <a:ea typeface="Helvetica Neue"/>
              <a:cs typeface="Helvetica Neue"/>
              <a:sym typeface="Helvetica Neue"/>
            </a:endParaRPr>
          </a:p>
          <a:p>
            <a:pPr indent="-57150" lvl="0" marL="0" marR="0" rtl="0" algn="l">
              <a:lnSpc>
                <a:spcPct val="115000"/>
              </a:lnSpc>
              <a:spcBef>
                <a:spcPts val="1000"/>
              </a:spcBef>
              <a:spcAft>
                <a:spcPts val="0"/>
              </a:spcAft>
              <a:buClr>
                <a:srgbClr val="000000"/>
              </a:buClr>
              <a:buSzPts val="1800"/>
              <a:buFont typeface="Arial"/>
              <a:buNone/>
            </a:pPr>
            <a:r>
              <a:rPr i="1" lang="en-US" sz="1800">
                <a:solidFill>
                  <a:schemeClr val="lt1"/>
                </a:solidFill>
                <a:latin typeface="Helvetica Neue"/>
                <a:ea typeface="Helvetica Neue"/>
                <a:cs typeface="Helvetica Neue"/>
                <a:sym typeface="Helvetica Neue"/>
              </a:rPr>
              <a:t>Professor Ming-Long Lam</a:t>
            </a:r>
            <a:endParaRPr i="1" sz="1900">
              <a:solidFill>
                <a:schemeClr val="dk2"/>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2"/>
          <p:cNvSpPr txBox="1"/>
          <p:nvPr>
            <p:ph idx="1" type="body"/>
          </p:nvPr>
        </p:nvSpPr>
        <p:spPr>
          <a:xfrm>
            <a:off x="628650" y="1608000"/>
            <a:ext cx="8078400" cy="4460100"/>
          </a:xfrm>
          <a:prstGeom prst="rect">
            <a:avLst/>
          </a:prstGeom>
          <a:noFill/>
          <a:ln>
            <a:noFill/>
          </a:ln>
        </p:spPr>
        <p:txBody>
          <a:bodyPr anchorCtr="0" anchor="t" bIns="45700" lIns="0" spcFirstLastPara="1" rIns="0" wrap="square" tIns="45700">
            <a:normAutofit/>
          </a:bodyPr>
          <a:lstStyle/>
          <a:p>
            <a:pPr indent="-330200" lvl="0" marL="342900" rtl="0" algn="l">
              <a:lnSpc>
                <a:spcPct val="115000"/>
              </a:lnSpc>
              <a:spcBef>
                <a:spcPts val="0"/>
              </a:spcBef>
              <a:spcAft>
                <a:spcPts val="0"/>
              </a:spcAft>
              <a:buClr>
                <a:schemeClr val="dk1"/>
              </a:buClr>
              <a:buSzPts val="2200"/>
              <a:buChar char="•"/>
            </a:pPr>
            <a:r>
              <a:rPr lang="en-US" sz="2200">
                <a:solidFill>
                  <a:schemeClr val="dk1"/>
                </a:solidFill>
              </a:rPr>
              <a:t>Financial markets </a:t>
            </a:r>
            <a:r>
              <a:rPr b="1" lang="en-US" sz="2200">
                <a:solidFill>
                  <a:schemeClr val="dk1"/>
                </a:solidFill>
              </a:rPr>
              <a:t>react strongly</a:t>
            </a:r>
            <a:r>
              <a:rPr lang="en-US" sz="2200">
                <a:solidFill>
                  <a:schemeClr val="dk1"/>
                </a:solidFill>
              </a:rPr>
              <a:t> to monthly labor data releases, especially unemployment figures</a:t>
            </a:r>
            <a:endParaRPr sz="2200">
              <a:solidFill>
                <a:schemeClr val="dk1"/>
              </a:solidFill>
            </a:endParaRPr>
          </a:p>
          <a:p>
            <a:pPr indent="-330200" lvl="0" marL="342900" rtl="0" algn="l">
              <a:lnSpc>
                <a:spcPct val="115000"/>
              </a:lnSpc>
              <a:spcBef>
                <a:spcPts val="1000"/>
              </a:spcBef>
              <a:spcAft>
                <a:spcPts val="0"/>
              </a:spcAft>
              <a:buClr>
                <a:schemeClr val="dk1"/>
              </a:buClr>
              <a:buSzPts val="2200"/>
              <a:buChar char="•"/>
            </a:pPr>
            <a:r>
              <a:rPr lang="en-US" sz="2200">
                <a:solidFill>
                  <a:schemeClr val="dk1"/>
                </a:solidFill>
              </a:rPr>
              <a:t>U-3 the </a:t>
            </a:r>
            <a:r>
              <a:rPr lang="en-US" sz="2200">
                <a:solidFill>
                  <a:schemeClr val="dk1"/>
                </a:solidFill>
              </a:rPr>
              <a:t>official unemployment rate</a:t>
            </a:r>
            <a:r>
              <a:rPr lang="en-US" sz="2200">
                <a:solidFill>
                  <a:schemeClr val="dk1"/>
                </a:solidFill>
              </a:rPr>
              <a:t>, together with inflation data, influences the </a:t>
            </a:r>
            <a:r>
              <a:rPr b="1" lang="en-US" sz="2200">
                <a:solidFill>
                  <a:schemeClr val="dk1"/>
                </a:solidFill>
              </a:rPr>
              <a:t>Federal Reserve’s policy decisions</a:t>
            </a:r>
            <a:r>
              <a:rPr lang="en-US" sz="2200">
                <a:solidFill>
                  <a:schemeClr val="dk1"/>
                </a:solidFill>
              </a:rPr>
              <a:t>, which move interest rates and broader markets</a:t>
            </a:r>
            <a:endParaRPr sz="2200">
              <a:solidFill>
                <a:schemeClr val="dk1"/>
              </a:solidFill>
            </a:endParaRPr>
          </a:p>
          <a:p>
            <a:pPr indent="-330200" lvl="0" marL="342900" rtl="0" algn="l">
              <a:lnSpc>
                <a:spcPct val="115000"/>
              </a:lnSpc>
              <a:spcBef>
                <a:spcPts val="1000"/>
              </a:spcBef>
              <a:spcAft>
                <a:spcPts val="0"/>
              </a:spcAft>
              <a:buClr>
                <a:schemeClr val="dk1"/>
              </a:buClr>
              <a:buSzPts val="2200"/>
              <a:buChar char="•"/>
            </a:pPr>
            <a:r>
              <a:rPr lang="en-US" sz="2200">
                <a:solidFill>
                  <a:schemeClr val="dk1"/>
                </a:solidFill>
              </a:rPr>
              <a:t>A credible, model-based forecast helps </a:t>
            </a:r>
            <a:r>
              <a:rPr b="1" lang="en-US" sz="2200">
                <a:solidFill>
                  <a:schemeClr val="dk1"/>
                </a:solidFill>
              </a:rPr>
              <a:t>anticipate market movements</a:t>
            </a:r>
            <a:r>
              <a:rPr lang="en-US" sz="2200">
                <a:solidFill>
                  <a:schemeClr val="dk1"/>
                </a:solidFill>
              </a:rPr>
              <a:t> and reduces uncertainty before the official Bureau of Labor Statistics release</a:t>
            </a:r>
            <a:endParaRPr sz="2200">
              <a:solidFill>
                <a:schemeClr val="dk1"/>
              </a:solidFill>
            </a:endParaRPr>
          </a:p>
          <a:p>
            <a:pPr indent="-330200" lvl="0" marL="342900" rtl="0" algn="l">
              <a:lnSpc>
                <a:spcPct val="115000"/>
              </a:lnSpc>
              <a:spcBef>
                <a:spcPts val="1000"/>
              </a:spcBef>
              <a:spcAft>
                <a:spcPts val="1000"/>
              </a:spcAft>
              <a:buClr>
                <a:schemeClr val="dk1"/>
              </a:buClr>
              <a:buSzPts val="2200"/>
              <a:buChar char="•"/>
            </a:pPr>
            <a:r>
              <a:rPr lang="en-US" sz="2200">
                <a:solidFill>
                  <a:schemeClr val="dk1"/>
                </a:solidFill>
              </a:rPr>
              <a:t>Our statistical goal is to estimate the </a:t>
            </a:r>
            <a:r>
              <a:rPr b="1" lang="en-US" sz="2200">
                <a:solidFill>
                  <a:schemeClr val="dk1"/>
                </a:solidFill>
              </a:rPr>
              <a:t>expected value of the December 2025 U-3 rate</a:t>
            </a:r>
            <a:r>
              <a:rPr lang="en-US" sz="2200">
                <a:solidFill>
                  <a:schemeClr val="dk1"/>
                </a:solidFill>
              </a:rPr>
              <a:t> using macroeconomic predictors</a:t>
            </a:r>
            <a:endParaRPr sz="2200">
              <a:solidFill>
                <a:schemeClr val="dk1"/>
              </a:solidFill>
            </a:endParaRPr>
          </a:p>
        </p:txBody>
      </p:sp>
      <p:sp>
        <p:nvSpPr>
          <p:cNvPr id="266" name="Google Shape;266;p12"/>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Business Problem</a:t>
            </a:r>
            <a:endParaRPr/>
          </a:p>
        </p:txBody>
      </p:sp>
      <p:sp>
        <p:nvSpPr>
          <p:cNvPr id="267" name="Google Shape;267;p12"/>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ada265f958_0_0"/>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Data Sources</a:t>
            </a:r>
            <a:endParaRPr/>
          </a:p>
        </p:txBody>
      </p:sp>
      <p:sp>
        <p:nvSpPr>
          <p:cNvPr id="273" name="Google Shape;273;g3ada265f958_0_0"/>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sp>
        <p:nvSpPr>
          <p:cNvPr id="274" name="Google Shape;274;g3ada265f958_0_0"/>
          <p:cNvSpPr txBox="1"/>
          <p:nvPr/>
        </p:nvSpPr>
        <p:spPr>
          <a:xfrm>
            <a:off x="628650" y="1538875"/>
            <a:ext cx="3731700" cy="18153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Clr>
                <a:srgbClr val="000000"/>
              </a:buClr>
              <a:buSzPts val="1100"/>
              <a:buFont typeface="Arial"/>
              <a:buNone/>
            </a:pPr>
            <a:r>
              <a:rPr b="1" lang="en-US" sz="1500"/>
              <a:t>Target </a:t>
            </a:r>
            <a:endParaRPr b="1" sz="1500"/>
          </a:p>
          <a:p>
            <a:pPr indent="0" lvl="0" marL="0" rtl="0" algn="l">
              <a:spcBef>
                <a:spcPts val="1000"/>
              </a:spcBef>
              <a:spcAft>
                <a:spcPts val="0"/>
              </a:spcAft>
              <a:buClr>
                <a:srgbClr val="000000"/>
              </a:buClr>
              <a:buSzPts val="1100"/>
              <a:buFont typeface="Arial"/>
              <a:buNone/>
            </a:pPr>
            <a:r>
              <a:rPr lang="en-US" sz="1500">
                <a:solidFill>
                  <a:srgbClr val="000000"/>
                </a:solidFill>
              </a:rPr>
              <a:t>U-3 Unemployment Rate (UNRATE)</a:t>
            </a:r>
            <a:r>
              <a:rPr lang="en-US" sz="1500"/>
              <a:t> - </a:t>
            </a:r>
            <a:r>
              <a:rPr lang="en-US" sz="1500">
                <a:solidFill>
                  <a:srgbClr val="000000"/>
                </a:solidFill>
              </a:rPr>
              <a:t>monthly, seasonally adjusted.</a:t>
            </a:r>
            <a:endParaRPr sz="1500">
              <a:solidFill>
                <a:srgbClr val="000000"/>
              </a:solidFill>
            </a:endParaRPr>
          </a:p>
          <a:p>
            <a:pPr indent="0" lvl="0" marL="0" rtl="0" algn="l">
              <a:spcBef>
                <a:spcPts val="1000"/>
              </a:spcBef>
              <a:spcAft>
                <a:spcPts val="0"/>
              </a:spcAft>
              <a:buClr>
                <a:srgbClr val="000000"/>
              </a:buClr>
              <a:buSzPts val="1100"/>
              <a:buFont typeface="Arial"/>
              <a:buNone/>
            </a:pPr>
            <a:r>
              <a:rPr lang="en-US" sz="1500">
                <a:solidFill>
                  <a:srgbClr val="000000"/>
                </a:solidFill>
              </a:rPr>
              <a:t>Source: FRED </a:t>
            </a:r>
            <a:r>
              <a:rPr lang="en-US" sz="1500">
                <a:solidFill>
                  <a:srgbClr val="000000"/>
                </a:solidFill>
              </a:rPr>
              <a:t>/ BLS CPS</a:t>
            </a:r>
            <a:endParaRPr sz="1500"/>
          </a:p>
          <a:p>
            <a:pPr indent="0" lvl="0" marL="0" rtl="0" algn="l">
              <a:spcBef>
                <a:spcPts val="0"/>
              </a:spcBef>
              <a:spcAft>
                <a:spcPts val="0"/>
              </a:spcAft>
              <a:buClr>
                <a:srgbClr val="000000"/>
              </a:buClr>
              <a:buSzPts val="1100"/>
              <a:buFont typeface="Arial"/>
              <a:buNone/>
            </a:pPr>
            <a:r>
              <a:rPr lang="en-US" sz="1500" u="sng">
                <a:solidFill>
                  <a:srgbClr val="0097A7"/>
                </a:solidFill>
                <a:hlinkClick r:id="rId3">
                  <a:extLst>
                    <a:ext uri="{A12FA001-AC4F-418D-AE19-62706E023703}">
                      <ahyp:hlinkClr val="tx"/>
                    </a:ext>
                  </a:extLst>
                </a:hlinkClick>
              </a:rPr>
              <a:t>https://fred.stlouisfed.org/series/UNRATE</a:t>
            </a:r>
            <a:endParaRPr sz="1500">
              <a:solidFill>
                <a:srgbClr val="595959"/>
              </a:solidFill>
            </a:endParaRPr>
          </a:p>
        </p:txBody>
      </p:sp>
      <p:sp>
        <p:nvSpPr>
          <p:cNvPr id="275" name="Google Shape;275;g3ada265f958_0_0"/>
          <p:cNvSpPr txBox="1"/>
          <p:nvPr/>
        </p:nvSpPr>
        <p:spPr>
          <a:xfrm>
            <a:off x="648769" y="3438373"/>
            <a:ext cx="3711600" cy="233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0"/>
              </a:spcBef>
              <a:spcAft>
                <a:spcPts val="0"/>
              </a:spcAft>
              <a:buNone/>
            </a:pPr>
            <a:r>
              <a:rPr b="1" lang="en-US" sz="1500"/>
              <a:t>Labor Demand</a:t>
            </a:r>
            <a:endParaRPr b="1" sz="1500"/>
          </a:p>
          <a:p>
            <a:pPr indent="0" lvl="0" marL="0" rtl="0" algn="l">
              <a:lnSpc>
                <a:spcPct val="100000"/>
              </a:lnSpc>
              <a:spcBef>
                <a:spcPts val="1000"/>
              </a:spcBef>
              <a:spcAft>
                <a:spcPts val="0"/>
              </a:spcAft>
              <a:buNone/>
            </a:pPr>
            <a:r>
              <a:rPr lang="en-US" sz="1500">
                <a:solidFill>
                  <a:srgbClr val="000000"/>
                </a:solidFill>
              </a:rPr>
              <a:t>Job Openings (JTSJOL) </a:t>
            </a:r>
            <a:r>
              <a:rPr lang="en-US" sz="1500"/>
              <a:t>-</a:t>
            </a:r>
            <a:endParaRPr sz="1500">
              <a:solidFill>
                <a:srgbClr val="000000"/>
              </a:solidFill>
            </a:endParaRPr>
          </a:p>
          <a:p>
            <a:pPr indent="0" lvl="0" marL="0" rtl="0" algn="l">
              <a:lnSpc>
                <a:spcPct val="100000"/>
              </a:lnSpc>
              <a:spcBef>
                <a:spcPts val="0"/>
              </a:spcBef>
              <a:spcAft>
                <a:spcPts val="0"/>
              </a:spcAft>
              <a:buNone/>
            </a:pPr>
            <a:r>
              <a:rPr lang="en-US" sz="1500">
                <a:solidFill>
                  <a:srgbClr val="000000"/>
                </a:solidFill>
              </a:rPr>
              <a:t>monthly, </a:t>
            </a:r>
            <a:r>
              <a:rPr lang="en-US" sz="1500"/>
              <a:t>seasonal adjusted</a:t>
            </a:r>
            <a:endParaRPr sz="1500"/>
          </a:p>
          <a:p>
            <a:pPr indent="0" lvl="0" marL="0" rtl="0" algn="l">
              <a:lnSpc>
                <a:spcPct val="100000"/>
              </a:lnSpc>
              <a:spcBef>
                <a:spcPts val="1000"/>
              </a:spcBef>
              <a:spcAft>
                <a:spcPts val="0"/>
              </a:spcAft>
              <a:buNone/>
            </a:pPr>
            <a:r>
              <a:rPr i="1" lang="en-US" sz="1500">
                <a:solidFill>
                  <a:srgbClr val="000000"/>
                </a:solidFill>
              </a:rPr>
              <a:t>Why:</a:t>
            </a:r>
            <a:r>
              <a:rPr lang="en-US" sz="1500">
                <a:solidFill>
                  <a:srgbClr val="000000"/>
                </a:solidFill>
              </a:rPr>
              <a:t> Tightness proxy. More openings → lower unemployment (strong negative correlation in our EDA)</a:t>
            </a:r>
            <a:endParaRPr sz="1500"/>
          </a:p>
          <a:p>
            <a:pPr indent="0" lvl="0" marL="0" rtl="0" algn="l">
              <a:spcBef>
                <a:spcPts val="1000"/>
              </a:spcBef>
              <a:spcAft>
                <a:spcPts val="0"/>
              </a:spcAft>
              <a:buClr>
                <a:schemeClr val="dk1"/>
              </a:buClr>
              <a:buSzPts val="1100"/>
              <a:buFont typeface="Arial"/>
              <a:buNone/>
            </a:pPr>
            <a:r>
              <a:rPr lang="en-US" sz="1500">
                <a:solidFill>
                  <a:schemeClr val="dk1"/>
                </a:solidFill>
              </a:rPr>
              <a:t>Source: FRED / BLS JOLTS</a:t>
            </a:r>
            <a:br>
              <a:rPr lang="en-US" sz="1500">
                <a:solidFill>
                  <a:schemeClr val="dk1"/>
                </a:solidFill>
              </a:rPr>
            </a:br>
            <a:r>
              <a:rPr lang="en-US" sz="1500" u="sng">
                <a:solidFill>
                  <a:srgbClr val="0097A7"/>
                </a:solidFill>
                <a:hlinkClick r:id="rId4">
                  <a:extLst>
                    <a:ext uri="{A12FA001-AC4F-418D-AE19-62706E023703}">
                      <ahyp:hlinkClr val="tx"/>
                    </a:ext>
                  </a:extLst>
                </a:hlinkClick>
              </a:rPr>
              <a:t>https://fred.stlouisfed.org/series/JTSJOL</a:t>
            </a:r>
            <a:endParaRPr sz="1500"/>
          </a:p>
        </p:txBody>
      </p:sp>
      <p:sp>
        <p:nvSpPr>
          <p:cNvPr id="276" name="Google Shape;276;g3ada265f958_0_0"/>
          <p:cNvSpPr txBox="1"/>
          <p:nvPr/>
        </p:nvSpPr>
        <p:spPr>
          <a:xfrm>
            <a:off x="4628925" y="1493050"/>
            <a:ext cx="3886500" cy="470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b="1" lang="en-US" sz="1500">
                <a:solidFill>
                  <a:srgbClr val="000000"/>
                </a:solidFill>
              </a:rPr>
              <a:t>High-frequency labor stress</a:t>
            </a:r>
            <a:endParaRPr b="1" sz="1500"/>
          </a:p>
          <a:p>
            <a:pPr indent="0" lvl="0" marL="0" rtl="0" algn="l">
              <a:lnSpc>
                <a:spcPct val="115000"/>
              </a:lnSpc>
              <a:spcBef>
                <a:spcPts val="1000"/>
              </a:spcBef>
              <a:spcAft>
                <a:spcPts val="0"/>
              </a:spcAft>
              <a:buNone/>
            </a:pPr>
            <a:r>
              <a:rPr lang="en-US" sz="1500">
                <a:solidFill>
                  <a:srgbClr val="000000"/>
                </a:solidFill>
              </a:rPr>
              <a:t>Initial Unemployment Claims (ICSA) </a:t>
            </a:r>
            <a:r>
              <a:rPr lang="en-US" sz="1500"/>
              <a:t>-</a:t>
            </a:r>
            <a:r>
              <a:rPr lang="en-US" sz="1500">
                <a:solidFill>
                  <a:srgbClr val="000000"/>
                </a:solidFill>
              </a:rPr>
              <a:t> weekly, </a:t>
            </a:r>
            <a:r>
              <a:rPr lang="en-US" sz="1500"/>
              <a:t>s</a:t>
            </a:r>
            <a:r>
              <a:rPr lang="en-US" sz="1500">
                <a:solidFill>
                  <a:srgbClr val="000000"/>
                </a:solidFill>
              </a:rPr>
              <a:t>easonal </a:t>
            </a:r>
            <a:r>
              <a:rPr lang="en-US" sz="1500"/>
              <a:t>a</a:t>
            </a:r>
            <a:r>
              <a:rPr lang="en-US" sz="1500">
                <a:solidFill>
                  <a:srgbClr val="000000"/>
                </a:solidFill>
              </a:rPr>
              <a:t>djusted.</a:t>
            </a:r>
            <a:endParaRPr sz="1500">
              <a:solidFill>
                <a:srgbClr val="000000"/>
              </a:solidFill>
            </a:endParaRPr>
          </a:p>
          <a:p>
            <a:pPr indent="0" lvl="0" marL="0" rtl="0" algn="l">
              <a:lnSpc>
                <a:spcPct val="115000"/>
              </a:lnSpc>
              <a:spcBef>
                <a:spcPts val="0"/>
              </a:spcBef>
              <a:spcAft>
                <a:spcPts val="0"/>
              </a:spcAft>
              <a:buNone/>
            </a:pPr>
            <a:r>
              <a:rPr i="1" lang="en-US" sz="1500">
                <a:solidFill>
                  <a:srgbClr val="000000"/>
                </a:solidFill>
              </a:rPr>
              <a:t>Why:</a:t>
            </a:r>
            <a:r>
              <a:rPr lang="en-US" sz="1500">
                <a:solidFill>
                  <a:srgbClr val="000000"/>
                </a:solidFill>
              </a:rPr>
              <a:t> First signal of layoffs; leads U-3 in downturns. We aggregate to month by taking the monthly average. </a:t>
            </a:r>
            <a:br>
              <a:rPr lang="en-US" sz="1500">
                <a:solidFill>
                  <a:srgbClr val="000000"/>
                </a:solidFill>
              </a:rPr>
            </a:br>
            <a:r>
              <a:rPr lang="en-US" sz="1500">
                <a:solidFill>
                  <a:schemeClr val="dk1"/>
                </a:solidFill>
              </a:rPr>
              <a:t>Source: FRED / DOL</a:t>
            </a:r>
            <a:endParaRPr sz="1500">
              <a:solidFill>
                <a:schemeClr val="dk1"/>
              </a:solidFill>
            </a:endParaRPr>
          </a:p>
          <a:p>
            <a:pPr indent="0" lvl="0" marL="0" rtl="0" algn="l">
              <a:lnSpc>
                <a:spcPct val="115000"/>
              </a:lnSpc>
              <a:spcBef>
                <a:spcPts val="0"/>
              </a:spcBef>
              <a:spcAft>
                <a:spcPts val="0"/>
              </a:spcAft>
              <a:buNone/>
            </a:pPr>
            <a:r>
              <a:rPr lang="en-US" sz="1500" u="sng">
                <a:solidFill>
                  <a:srgbClr val="0097A7"/>
                </a:solidFill>
                <a:hlinkClick r:id="rId5">
                  <a:extLst>
                    <a:ext uri="{A12FA001-AC4F-418D-AE19-62706E023703}">
                      <ahyp:hlinkClr val="tx"/>
                    </a:ext>
                  </a:extLst>
                </a:hlinkClick>
              </a:rPr>
              <a:t>https://fred.stlouisfed.org/series/ICSA</a:t>
            </a:r>
            <a:endParaRPr sz="1500">
              <a:solidFill>
                <a:srgbClr val="000000"/>
              </a:solidFill>
            </a:endParaRPr>
          </a:p>
          <a:p>
            <a:pPr indent="0" lvl="0" marL="0" rtl="0" algn="l">
              <a:lnSpc>
                <a:spcPct val="115000"/>
              </a:lnSpc>
              <a:spcBef>
                <a:spcPts val="1000"/>
              </a:spcBef>
              <a:spcAft>
                <a:spcPts val="0"/>
              </a:spcAft>
              <a:buNone/>
            </a:pPr>
            <a:r>
              <a:rPr lang="en-US" sz="1500">
                <a:solidFill>
                  <a:srgbClr val="000000"/>
                </a:solidFill>
              </a:rPr>
              <a:t>Continued Unemployment Claims (CCSA) </a:t>
            </a:r>
            <a:r>
              <a:rPr lang="en-US" sz="1500"/>
              <a:t>-</a:t>
            </a:r>
            <a:r>
              <a:rPr lang="en-US" sz="1500">
                <a:solidFill>
                  <a:srgbClr val="000000"/>
                </a:solidFill>
              </a:rPr>
              <a:t> weekly, SA.</a:t>
            </a:r>
            <a:br>
              <a:rPr lang="en-US" sz="1500">
                <a:solidFill>
                  <a:srgbClr val="000000"/>
                </a:solidFill>
              </a:rPr>
            </a:br>
            <a:r>
              <a:rPr i="1" lang="en-US" sz="1500">
                <a:solidFill>
                  <a:srgbClr val="000000"/>
                </a:solidFill>
              </a:rPr>
              <a:t>Why:</a:t>
            </a:r>
            <a:r>
              <a:rPr lang="en-US" sz="1500">
                <a:solidFill>
                  <a:srgbClr val="000000"/>
                </a:solidFill>
              </a:rPr>
              <a:t> Stock of people still claiming benefits; persistence of unemployment. Also averaged to monthly; use logs and moving averages.</a:t>
            </a:r>
            <a:endParaRPr sz="1500"/>
          </a:p>
          <a:p>
            <a:pPr indent="0" lvl="0" marL="0" rtl="0" algn="l">
              <a:lnSpc>
                <a:spcPct val="115000"/>
              </a:lnSpc>
              <a:spcBef>
                <a:spcPts val="0"/>
              </a:spcBef>
              <a:spcAft>
                <a:spcPts val="0"/>
              </a:spcAft>
              <a:buNone/>
            </a:pPr>
            <a:r>
              <a:rPr lang="en-US" sz="1500">
                <a:solidFill>
                  <a:schemeClr val="dk1"/>
                </a:solidFill>
              </a:rPr>
              <a:t>Source: FRED / DOL</a:t>
            </a:r>
            <a:endParaRPr sz="1500">
              <a:solidFill>
                <a:schemeClr val="dk1"/>
              </a:solidFill>
            </a:endParaRPr>
          </a:p>
          <a:p>
            <a:pPr indent="0" lvl="0" marL="0" rtl="0" algn="l">
              <a:lnSpc>
                <a:spcPct val="115000"/>
              </a:lnSpc>
              <a:spcBef>
                <a:spcPts val="0"/>
              </a:spcBef>
              <a:spcAft>
                <a:spcPts val="0"/>
              </a:spcAft>
              <a:buNone/>
            </a:pPr>
            <a:r>
              <a:rPr lang="en-US" sz="1500" u="sng">
                <a:solidFill>
                  <a:srgbClr val="0097A7"/>
                </a:solidFill>
                <a:hlinkClick r:id="rId6">
                  <a:extLst>
                    <a:ext uri="{A12FA001-AC4F-418D-AE19-62706E023703}">
                      <ahyp:hlinkClr val="tx"/>
                    </a:ext>
                  </a:extLst>
                </a:hlinkClick>
              </a:rPr>
              <a:t>https://fred.stlouisfed.org/series/CCSA</a:t>
            </a:r>
            <a:endParaRPr sz="150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ae0ab2fae4_0_3"/>
          <p:cNvSpPr txBox="1"/>
          <p:nvPr>
            <p:ph idx="12" type="sldNum"/>
          </p:nvPr>
        </p:nvSpPr>
        <p:spPr>
          <a:xfrm>
            <a:off x="8515349" y="6456764"/>
            <a:ext cx="4605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800"/>
              <a:buFont typeface="Helvetica Neue"/>
              <a:buNone/>
            </a:pPr>
            <a:fld id="{00000000-1234-1234-1234-123412341234}" type="slidenum">
              <a:rPr lang="en-US"/>
              <a:t>‹#›</a:t>
            </a:fld>
            <a:endParaRPr/>
          </a:p>
        </p:txBody>
      </p:sp>
      <p:sp>
        <p:nvSpPr>
          <p:cNvPr id="283" name="Google Shape;283;g3ae0ab2fae4_0_3"/>
          <p:cNvSpPr txBox="1"/>
          <p:nvPr/>
        </p:nvSpPr>
        <p:spPr>
          <a:xfrm>
            <a:off x="490850" y="1674125"/>
            <a:ext cx="3981900" cy="417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500">
                <a:solidFill>
                  <a:srgbClr val="000000"/>
                </a:solidFill>
              </a:rPr>
              <a:t>Macro backdrop</a:t>
            </a:r>
            <a:endParaRPr b="1" sz="1500">
              <a:solidFill>
                <a:srgbClr val="000000"/>
              </a:solidFill>
            </a:endParaRPr>
          </a:p>
          <a:p>
            <a:pPr indent="0" lvl="0" marL="0" rtl="0" algn="l">
              <a:lnSpc>
                <a:spcPct val="115000"/>
              </a:lnSpc>
              <a:spcBef>
                <a:spcPts val="1200"/>
              </a:spcBef>
              <a:spcAft>
                <a:spcPts val="0"/>
              </a:spcAft>
              <a:buNone/>
            </a:pPr>
            <a:r>
              <a:rPr lang="en-US" sz="1500">
                <a:solidFill>
                  <a:srgbClr val="000000"/>
                </a:solidFill>
              </a:rPr>
              <a:t>CPI All Urban Consumers (CPIAUCSL) </a:t>
            </a:r>
            <a:r>
              <a:rPr lang="en-US" sz="1500"/>
              <a:t>-</a:t>
            </a:r>
            <a:r>
              <a:rPr lang="en-US" sz="1500">
                <a:solidFill>
                  <a:srgbClr val="000000"/>
                </a:solidFill>
              </a:rPr>
              <a:t> monthly, SA.</a:t>
            </a:r>
            <a:br>
              <a:rPr lang="en-US" sz="1500">
                <a:solidFill>
                  <a:srgbClr val="000000"/>
                </a:solidFill>
              </a:rPr>
            </a:br>
            <a:r>
              <a:rPr i="1" lang="en-US" sz="1500">
                <a:solidFill>
                  <a:srgbClr val="000000"/>
                </a:solidFill>
              </a:rPr>
              <a:t>Why:</a:t>
            </a:r>
            <a:r>
              <a:rPr lang="en-US" sz="1500">
                <a:solidFill>
                  <a:srgbClr val="000000"/>
                </a:solidFill>
              </a:rPr>
              <a:t> Inflation regime conditions Fed policy and real wages; helps explain cycles in hiring/firing dynamics.</a:t>
            </a:r>
            <a:br>
              <a:rPr lang="en-US" sz="1500">
                <a:solidFill>
                  <a:srgbClr val="000000"/>
                </a:solidFill>
              </a:rPr>
            </a:br>
            <a:r>
              <a:rPr lang="en-US" sz="1500">
                <a:solidFill>
                  <a:schemeClr val="dk1"/>
                </a:solidFill>
              </a:rPr>
              <a:t>Source: FRED / BLS CPI</a:t>
            </a:r>
            <a:br>
              <a:rPr lang="en-US" sz="1500">
                <a:solidFill>
                  <a:schemeClr val="dk1"/>
                </a:solidFill>
              </a:rPr>
            </a:br>
            <a:r>
              <a:rPr lang="en-US" sz="1500" u="sng">
                <a:solidFill>
                  <a:srgbClr val="0097A7"/>
                </a:solidFill>
                <a:hlinkClick r:id="rId3">
                  <a:extLst>
                    <a:ext uri="{A12FA001-AC4F-418D-AE19-62706E023703}">
                      <ahyp:hlinkClr val="tx"/>
                    </a:ext>
                  </a:extLst>
                </a:hlinkClick>
              </a:rPr>
              <a:t>https://fred.stlouisfed.org/series/CPIAUCSL</a:t>
            </a:r>
            <a:endParaRPr sz="1500">
              <a:solidFill>
                <a:srgbClr val="000000"/>
              </a:solidFill>
            </a:endParaRPr>
          </a:p>
          <a:p>
            <a:pPr indent="0" lvl="0" marL="0" rtl="0" algn="l">
              <a:lnSpc>
                <a:spcPct val="115000"/>
              </a:lnSpc>
              <a:spcBef>
                <a:spcPts val="1200"/>
              </a:spcBef>
              <a:spcAft>
                <a:spcPts val="0"/>
              </a:spcAft>
              <a:buNone/>
            </a:pPr>
            <a:r>
              <a:rPr lang="en-US" sz="1500">
                <a:solidFill>
                  <a:srgbClr val="000000"/>
                </a:solidFill>
              </a:rPr>
              <a:t>Effective Federal Funds Rate (FEDFUNDS) </a:t>
            </a:r>
            <a:r>
              <a:rPr lang="en-US" sz="1500"/>
              <a:t>-</a:t>
            </a:r>
            <a:r>
              <a:rPr lang="en-US" sz="1500">
                <a:solidFill>
                  <a:srgbClr val="000000"/>
                </a:solidFill>
              </a:rPr>
              <a:t> monthly avg.</a:t>
            </a:r>
            <a:br>
              <a:rPr lang="en-US" sz="1500" u="sng">
                <a:solidFill>
                  <a:srgbClr val="0097A7"/>
                </a:solidFill>
                <a:hlinkClick r:id="rId4">
                  <a:extLst>
                    <a:ext uri="{A12FA001-AC4F-418D-AE19-62706E023703}">
                      <ahyp:hlinkClr val="tx"/>
                    </a:ext>
                  </a:extLst>
                </a:hlinkClick>
              </a:rPr>
            </a:br>
            <a:r>
              <a:rPr i="1" lang="en-US" sz="1500">
                <a:solidFill>
                  <a:srgbClr val="000000"/>
                </a:solidFill>
              </a:rPr>
              <a:t>Why:</a:t>
            </a:r>
            <a:r>
              <a:rPr lang="en-US" sz="1500">
                <a:solidFill>
                  <a:srgbClr val="000000"/>
                </a:solidFill>
              </a:rPr>
              <a:t> Monetary stance. Higher rates cool labor demand with lags</a:t>
            </a:r>
            <a:endParaRPr sz="1500"/>
          </a:p>
          <a:p>
            <a:pPr indent="0" lvl="0" marL="0" rtl="0" algn="l">
              <a:lnSpc>
                <a:spcPct val="115000"/>
              </a:lnSpc>
              <a:spcBef>
                <a:spcPts val="0"/>
              </a:spcBef>
              <a:spcAft>
                <a:spcPts val="0"/>
              </a:spcAft>
              <a:buNone/>
            </a:pPr>
            <a:r>
              <a:rPr lang="en-US" sz="1500">
                <a:solidFill>
                  <a:schemeClr val="dk1"/>
                </a:solidFill>
              </a:rPr>
              <a:t>Source: FRED / Federal Reserve</a:t>
            </a:r>
            <a:endParaRPr sz="1500">
              <a:solidFill>
                <a:schemeClr val="dk1"/>
              </a:solidFill>
            </a:endParaRPr>
          </a:p>
          <a:p>
            <a:pPr indent="0" lvl="0" marL="0" rtl="0" algn="l">
              <a:lnSpc>
                <a:spcPct val="115000"/>
              </a:lnSpc>
              <a:spcBef>
                <a:spcPts val="0"/>
              </a:spcBef>
              <a:spcAft>
                <a:spcPts val="0"/>
              </a:spcAft>
              <a:buNone/>
            </a:pPr>
            <a:r>
              <a:rPr lang="en-US" sz="1500" u="sng">
                <a:solidFill>
                  <a:srgbClr val="0097A7"/>
                </a:solidFill>
                <a:hlinkClick r:id="rId5">
                  <a:extLst>
                    <a:ext uri="{A12FA001-AC4F-418D-AE19-62706E023703}">
                      <ahyp:hlinkClr val="tx"/>
                    </a:ext>
                  </a:extLst>
                </a:hlinkClick>
              </a:rPr>
              <a:t>https://fred.stlouisfed.org/series/FEDFUNDS</a:t>
            </a:r>
            <a:endParaRPr sz="1500"/>
          </a:p>
        </p:txBody>
      </p:sp>
      <p:sp>
        <p:nvSpPr>
          <p:cNvPr id="284" name="Google Shape;284;g3ae0ab2fae4_0_3"/>
          <p:cNvSpPr txBox="1"/>
          <p:nvPr/>
        </p:nvSpPr>
        <p:spPr>
          <a:xfrm>
            <a:off x="4699350" y="1674125"/>
            <a:ext cx="3816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en-US" sz="1500">
                <a:solidFill>
                  <a:srgbClr val="000000"/>
                </a:solidFill>
              </a:rPr>
              <a:t>Employment growth</a:t>
            </a:r>
            <a:endParaRPr b="1" sz="1500">
              <a:solidFill>
                <a:srgbClr val="000000"/>
              </a:solidFill>
            </a:endParaRPr>
          </a:p>
          <a:p>
            <a:pPr indent="0" lvl="0" marL="0" rtl="0" algn="l">
              <a:lnSpc>
                <a:spcPct val="115000"/>
              </a:lnSpc>
              <a:spcBef>
                <a:spcPts val="1200"/>
              </a:spcBef>
              <a:spcAft>
                <a:spcPts val="0"/>
              </a:spcAft>
              <a:buNone/>
            </a:pPr>
            <a:r>
              <a:rPr lang="en-US" sz="1500">
                <a:solidFill>
                  <a:srgbClr val="000000"/>
                </a:solidFill>
              </a:rPr>
              <a:t>Total Nonfarm Payrolls (PAYEMS) </a:t>
            </a:r>
            <a:r>
              <a:rPr lang="en-US" sz="1500"/>
              <a:t>- </a:t>
            </a:r>
            <a:r>
              <a:rPr lang="en-US" sz="1500">
                <a:solidFill>
                  <a:srgbClr val="000000"/>
                </a:solidFill>
              </a:rPr>
              <a:t>monthly, SA.</a:t>
            </a:r>
            <a:br>
              <a:rPr lang="en-US" sz="1500" u="sng">
                <a:solidFill>
                  <a:srgbClr val="0097A7"/>
                </a:solidFill>
                <a:hlinkClick r:id="rId6">
                  <a:extLst>
                    <a:ext uri="{A12FA001-AC4F-418D-AE19-62706E023703}">
                      <ahyp:hlinkClr val="tx"/>
                    </a:ext>
                  </a:extLst>
                </a:hlinkClick>
              </a:rPr>
            </a:br>
            <a:r>
              <a:rPr i="1" lang="en-US" sz="1500">
                <a:solidFill>
                  <a:srgbClr val="000000"/>
                </a:solidFill>
              </a:rPr>
              <a:t>Why:</a:t>
            </a:r>
            <a:r>
              <a:rPr lang="en-US" sz="1500">
                <a:solidFill>
                  <a:srgbClr val="000000"/>
                </a:solidFill>
              </a:rPr>
              <a:t> Coincident employment breadth. Payroll gains generally precede U-3 moves. We use levels, monthly % change, and lag(1).</a:t>
            </a:r>
            <a:endParaRPr sz="1500">
              <a:solidFill>
                <a:srgbClr val="000000"/>
              </a:solidFill>
            </a:endParaRPr>
          </a:p>
          <a:p>
            <a:pPr indent="0" lvl="0" marL="0" rtl="0" algn="l">
              <a:lnSpc>
                <a:spcPct val="115000"/>
              </a:lnSpc>
              <a:spcBef>
                <a:spcPts val="1200"/>
              </a:spcBef>
              <a:spcAft>
                <a:spcPts val="1200"/>
              </a:spcAft>
              <a:buClr>
                <a:schemeClr val="dk1"/>
              </a:buClr>
              <a:buSzPts val="1100"/>
              <a:buFont typeface="Arial"/>
              <a:buNone/>
            </a:pPr>
            <a:r>
              <a:rPr lang="en-US" sz="1500">
                <a:solidFill>
                  <a:schemeClr val="dk1"/>
                </a:solidFill>
              </a:rPr>
              <a:t>Source: FRED / BLS CES</a:t>
            </a:r>
            <a:br>
              <a:rPr lang="en-US" sz="1500">
                <a:solidFill>
                  <a:schemeClr val="dk1"/>
                </a:solidFill>
              </a:rPr>
            </a:br>
            <a:r>
              <a:rPr lang="en-US" sz="1500" u="sng">
                <a:solidFill>
                  <a:srgbClr val="0097A7"/>
                </a:solidFill>
                <a:hlinkClick r:id="rId7">
                  <a:extLst>
                    <a:ext uri="{A12FA001-AC4F-418D-AE19-62706E023703}">
                      <ahyp:hlinkClr val="tx"/>
                    </a:ext>
                  </a:extLst>
                </a:hlinkClick>
              </a:rPr>
              <a:t>https://fred.stlouisfed.org/series/PAYEMS</a:t>
            </a:r>
            <a:endParaRPr sz="1500">
              <a:solidFill>
                <a:srgbClr val="595959"/>
              </a:solidFill>
            </a:endParaRPr>
          </a:p>
        </p:txBody>
      </p:sp>
      <p:sp>
        <p:nvSpPr>
          <p:cNvPr id="285" name="Google Shape;285;g3ae0ab2fae4_0_3"/>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Data Sources</a:t>
            </a:r>
            <a:endParaRPr/>
          </a:p>
        </p:txBody>
      </p:sp>
      <p:sp>
        <p:nvSpPr>
          <p:cNvPr id="286" name="Google Shape;286;g3ae0ab2fae4_0_3"/>
          <p:cNvSpPr txBox="1"/>
          <p:nvPr/>
        </p:nvSpPr>
        <p:spPr>
          <a:xfrm>
            <a:off x="4795000" y="4809775"/>
            <a:ext cx="3536400" cy="7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1500">
                <a:solidFill>
                  <a:srgbClr val="767676"/>
                </a:solidFill>
              </a:rPr>
              <a:t>Data Timespan:</a:t>
            </a:r>
            <a:endParaRPr b="1" i="1" sz="1500">
              <a:solidFill>
                <a:srgbClr val="767676"/>
              </a:solidFill>
            </a:endParaRPr>
          </a:p>
          <a:p>
            <a:pPr indent="0" lvl="0" marL="0" rtl="0" algn="l">
              <a:spcBef>
                <a:spcPts val="0"/>
              </a:spcBef>
              <a:spcAft>
                <a:spcPts val="0"/>
              </a:spcAft>
              <a:buNone/>
            </a:pPr>
            <a:r>
              <a:rPr b="1" i="1" lang="en-US" sz="1500">
                <a:solidFill>
                  <a:srgbClr val="767676"/>
                </a:solidFill>
              </a:rPr>
              <a:t>Dec 2000 - Aug 2025</a:t>
            </a:r>
            <a:endParaRPr b="1" i="1" sz="1600">
              <a:solidFill>
                <a:srgbClr val="767676"/>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ada265f958_0_6"/>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Data Pipeline</a:t>
            </a:r>
            <a:endParaRPr/>
          </a:p>
        </p:txBody>
      </p:sp>
      <p:sp>
        <p:nvSpPr>
          <p:cNvPr id="292" name="Google Shape;292;g3ada265f958_0_6"/>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grpSp>
        <p:nvGrpSpPr>
          <p:cNvPr id="293" name="Google Shape;293;g3ada265f958_0_6"/>
          <p:cNvGrpSpPr/>
          <p:nvPr/>
        </p:nvGrpSpPr>
        <p:grpSpPr>
          <a:xfrm>
            <a:off x="444182" y="1661895"/>
            <a:ext cx="7567404" cy="731700"/>
            <a:chOff x="444182" y="438789"/>
            <a:chExt cx="7567404" cy="731700"/>
          </a:xfrm>
        </p:grpSpPr>
        <p:sp>
          <p:nvSpPr>
            <p:cNvPr id="294" name="Google Shape;294;g3ada265f958_0_6"/>
            <p:cNvSpPr txBox="1"/>
            <p:nvPr/>
          </p:nvSpPr>
          <p:spPr>
            <a:xfrm>
              <a:off x="444182" y="488975"/>
              <a:ext cx="22710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US" sz="3100">
                  <a:solidFill>
                    <a:srgbClr val="085630"/>
                  </a:solidFill>
                  <a:latin typeface="Roboto Medium"/>
                  <a:ea typeface="Roboto Medium"/>
                  <a:cs typeface="Roboto Medium"/>
                  <a:sym typeface="Roboto Medium"/>
                </a:rPr>
                <a:t>Collect</a:t>
              </a:r>
              <a:endParaRPr sz="3100">
                <a:solidFill>
                  <a:srgbClr val="085630"/>
                </a:solidFill>
                <a:latin typeface="Roboto Medium"/>
                <a:ea typeface="Roboto Medium"/>
                <a:cs typeface="Roboto Medium"/>
                <a:sym typeface="Roboto Medium"/>
              </a:endParaRPr>
            </a:p>
          </p:txBody>
        </p:sp>
        <p:sp>
          <p:nvSpPr>
            <p:cNvPr id="295" name="Google Shape;295;g3ada265f958_0_6"/>
            <p:cNvSpPr/>
            <p:nvPr/>
          </p:nvSpPr>
          <p:spPr>
            <a:xfrm>
              <a:off x="2789785" y="438789"/>
              <a:ext cx="5221800" cy="731700"/>
            </a:xfrm>
            <a:prstGeom prst="rect">
              <a:avLst/>
            </a:prstGeom>
            <a:solidFill>
              <a:srgbClr val="08563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3ada265f958_0_6"/>
            <p:cNvSpPr txBox="1"/>
            <p:nvPr/>
          </p:nvSpPr>
          <p:spPr>
            <a:xfrm>
              <a:off x="2914400" y="870820"/>
              <a:ext cx="4765800" cy="227700"/>
            </a:xfrm>
            <a:prstGeom prst="rect">
              <a:avLst/>
            </a:prstGeom>
            <a:noFill/>
            <a:ln>
              <a:noFill/>
            </a:ln>
          </p:spPr>
          <p:txBody>
            <a:bodyPr anchorCtr="0" anchor="ctr"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Download monthly labor &amp; macro indicators from FRED </a:t>
              </a:r>
              <a:endParaRPr sz="1200">
                <a:solidFill>
                  <a:srgbClr val="FFFFFF"/>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(UNRATE, ICSA, CCSA, JTSJOL, PAYEMS, CPI, FEDFUNDS)</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FFFFFF"/>
                </a:solidFill>
                <a:latin typeface="Roboto"/>
                <a:ea typeface="Roboto"/>
                <a:cs typeface="Roboto"/>
                <a:sym typeface="Roboto"/>
              </a:endParaRPr>
            </a:p>
          </p:txBody>
        </p:sp>
      </p:grpSp>
      <p:grpSp>
        <p:nvGrpSpPr>
          <p:cNvPr id="297" name="Google Shape;297;g3ada265f958_0_6"/>
          <p:cNvGrpSpPr/>
          <p:nvPr/>
        </p:nvGrpSpPr>
        <p:grpSpPr>
          <a:xfrm>
            <a:off x="550777" y="2546255"/>
            <a:ext cx="7099310" cy="731700"/>
            <a:chOff x="550777" y="1323150"/>
            <a:chExt cx="7099310" cy="731700"/>
          </a:xfrm>
        </p:grpSpPr>
        <p:sp>
          <p:nvSpPr>
            <p:cNvPr id="298" name="Google Shape;298;g3ada265f958_0_6"/>
            <p:cNvSpPr txBox="1"/>
            <p:nvPr/>
          </p:nvSpPr>
          <p:spPr>
            <a:xfrm>
              <a:off x="550777" y="1373350"/>
              <a:ext cx="21645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US" sz="3100">
                  <a:solidFill>
                    <a:srgbClr val="0B713F"/>
                  </a:solidFill>
                  <a:latin typeface="Roboto Medium"/>
                  <a:ea typeface="Roboto Medium"/>
                  <a:cs typeface="Roboto Medium"/>
                  <a:sym typeface="Roboto Medium"/>
                </a:rPr>
                <a:t>Clean</a:t>
              </a:r>
              <a:endParaRPr sz="3100">
                <a:solidFill>
                  <a:srgbClr val="0B713F"/>
                </a:solidFill>
                <a:latin typeface="Roboto Medium"/>
                <a:ea typeface="Roboto Medium"/>
                <a:cs typeface="Roboto Medium"/>
                <a:sym typeface="Roboto Medium"/>
              </a:endParaRPr>
            </a:p>
          </p:txBody>
        </p:sp>
        <p:sp>
          <p:nvSpPr>
            <p:cNvPr id="299" name="Google Shape;299;g3ada265f958_0_6"/>
            <p:cNvSpPr/>
            <p:nvPr/>
          </p:nvSpPr>
          <p:spPr>
            <a:xfrm>
              <a:off x="2789787" y="1323150"/>
              <a:ext cx="4860300" cy="731700"/>
            </a:xfrm>
            <a:prstGeom prst="rect">
              <a:avLst/>
            </a:prstGeom>
            <a:solidFill>
              <a:srgbClr val="0B713F"/>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grpSp>
      <p:grpSp>
        <p:nvGrpSpPr>
          <p:cNvPr id="300" name="Google Shape;300;g3ada265f958_0_6"/>
          <p:cNvGrpSpPr/>
          <p:nvPr/>
        </p:nvGrpSpPr>
        <p:grpSpPr>
          <a:xfrm>
            <a:off x="612955" y="3427355"/>
            <a:ext cx="6674432" cy="764545"/>
            <a:chOff x="612955" y="2204250"/>
            <a:chExt cx="6674432" cy="764545"/>
          </a:xfrm>
        </p:grpSpPr>
        <p:sp>
          <p:nvSpPr>
            <p:cNvPr id="301" name="Google Shape;301;g3ada265f958_0_6"/>
            <p:cNvSpPr txBox="1"/>
            <p:nvPr/>
          </p:nvSpPr>
          <p:spPr>
            <a:xfrm>
              <a:off x="612955" y="2254450"/>
              <a:ext cx="21021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US" sz="3100">
                  <a:solidFill>
                    <a:srgbClr val="0B7743"/>
                  </a:solidFill>
                  <a:latin typeface="Roboto Medium"/>
                  <a:ea typeface="Roboto Medium"/>
                  <a:cs typeface="Roboto Medium"/>
                  <a:sym typeface="Roboto Medium"/>
                </a:rPr>
                <a:t>Aggregate</a:t>
              </a:r>
              <a:endParaRPr sz="3000">
                <a:solidFill>
                  <a:srgbClr val="0B7743"/>
                </a:solidFill>
                <a:latin typeface="Roboto Medium"/>
                <a:ea typeface="Roboto Medium"/>
                <a:cs typeface="Roboto Medium"/>
                <a:sym typeface="Roboto Medium"/>
              </a:endParaRPr>
            </a:p>
          </p:txBody>
        </p:sp>
        <p:sp>
          <p:nvSpPr>
            <p:cNvPr id="302" name="Google Shape;302;g3ada265f958_0_6"/>
            <p:cNvSpPr/>
            <p:nvPr/>
          </p:nvSpPr>
          <p:spPr>
            <a:xfrm>
              <a:off x="2789787" y="2204250"/>
              <a:ext cx="4497600" cy="731700"/>
            </a:xfrm>
            <a:prstGeom prst="rect">
              <a:avLst/>
            </a:prstGeom>
            <a:solidFill>
              <a:srgbClr val="0B774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ada265f958_0_6"/>
            <p:cNvSpPr txBox="1"/>
            <p:nvPr/>
          </p:nvSpPr>
          <p:spPr>
            <a:xfrm>
              <a:off x="2914400" y="2603695"/>
              <a:ext cx="3849900" cy="3651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Convert weekly claims (ICSA, CCSA) into monthly averages to align with unemployment reporting</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frequency</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FFFFFF"/>
                </a:solidFill>
                <a:latin typeface="Roboto"/>
                <a:ea typeface="Roboto"/>
                <a:cs typeface="Roboto"/>
                <a:sym typeface="Roboto"/>
              </a:endParaRPr>
            </a:p>
          </p:txBody>
        </p:sp>
      </p:grpSp>
      <p:grpSp>
        <p:nvGrpSpPr>
          <p:cNvPr id="304" name="Google Shape;304;g3ada265f958_0_6"/>
          <p:cNvGrpSpPr/>
          <p:nvPr/>
        </p:nvGrpSpPr>
        <p:grpSpPr>
          <a:xfrm>
            <a:off x="612946" y="4311730"/>
            <a:ext cx="6312942" cy="731700"/>
            <a:chOff x="612946" y="3088625"/>
            <a:chExt cx="6312942" cy="731700"/>
          </a:xfrm>
        </p:grpSpPr>
        <p:sp>
          <p:nvSpPr>
            <p:cNvPr id="305" name="Google Shape;305;g3ada265f958_0_6"/>
            <p:cNvSpPr txBox="1"/>
            <p:nvPr/>
          </p:nvSpPr>
          <p:spPr>
            <a:xfrm>
              <a:off x="612946" y="3138820"/>
              <a:ext cx="21021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US" sz="3000">
                  <a:solidFill>
                    <a:srgbClr val="0C8148"/>
                  </a:solidFill>
                  <a:latin typeface="Roboto Medium"/>
                  <a:ea typeface="Roboto Medium"/>
                  <a:cs typeface="Roboto Medium"/>
                  <a:sym typeface="Roboto Medium"/>
                </a:rPr>
                <a:t>Engineer</a:t>
              </a:r>
              <a:endParaRPr sz="3100">
                <a:solidFill>
                  <a:srgbClr val="0C8148"/>
                </a:solidFill>
                <a:latin typeface="Roboto Medium"/>
                <a:ea typeface="Roboto Medium"/>
                <a:cs typeface="Roboto Medium"/>
                <a:sym typeface="Roboto Medium"/>
              </a:endParaRPr>
            </a:p>
          </p:txBody>
        </p:sp>
        <p:sp>
          <p:nvSpPr>
            <p:cNvPr id="306" name="Google Shape;306;g3ada265f958_0_6"/>
            <p:cNvSpPr/>
            <p:nvPr/>
          </p:nvSpPr>
          <p:spPr>
            <a:xfrm>
              <a:off x="2789787" y="3088625"/>
              <a:ext cx="4136100" cy="731700"/>
            </a:xfrm>
            <a:prstGeom prst="rect">
              <a:avLst/>
            </a:prstGeom>
            <a:solidFill>
              <a:srgbClr val="0C814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g3ada265f958_0_6"/>
            <p:cNvSpPr txBox="1"/>
            <p:nvPr/>
          </p:nvSpPr>
          <p:spPr>
            <a:xfrm>
              <a:off x="2914400" y="3516195"/>
              <a:ext cx="3849900" cy="252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rgbClr val="FFFFFF"/>
                  </a:solidFill>
                  <a:latin typeface="Roboto"/>
                  <a:ea typeface="Roboto"/>
                  <a:cs typeface="Roboto"/>
                  <a:sym typeface="Roboto"/>
                </a:rPr>
                <a:t>Create predictive features: log transforms, lag(1/3), </a:t>
              </a:r>
              <a:endParaRPr sz="11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monthly % changes, rolling averages for volatility smoothing</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FFFFFF"/>
                </a:solidFill>
                <a:latin typeface="Roboto"/>
                <a:ea typeface="Roboto"/>
                <a:cs typeface="Roboto"/>
                <a:sym typeface="Roboto"/>
              </a:endParaRPr>
            </a:p>
          </p:txBody>
        </p:sp>
      </p:grpSp>
      <p:grpSp>
        <p:nvGrpSpPr>
          <p:cNvPr id="308" name="Google Shape;308;g3ada265f958_0_6"/>
          <p:cNvGrpSpPr/>
          <p:nvPr/>
        </p:nvGrpSpPr>
        <p:grpSpPr>
          <a:xfrm>
            <a:off x="628646" y="5196105"/>
            <a:ext cx="5937242" cy="731700"/>
            <a:chOff x="628646" y="3973000"/>
            <a:chExt cx="5937242" cy="731700"/>
          </a:xfrm>
        </p:grpSpPr>
        <p:sp>
          <p:nvSpPr>
            <p:cNvPr id="309" name="Google Shape;309;g3ada265f958_0_6"/>
            <p:cNvSpPr txBox="1"/>
            <p:nvPr/>
          </p:nvSpPr>
          <p:spPr>
            <a:xfrm>
              <a:off x="628646" y="4023195"/>
              <a:ext cx="20865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US" sz="3100">
                  <a:solidFill>
                    <a:srgbClr val="0E9453"/>
                  </a:solidFill>
                  <a:latin typeface="Roboto Medium"/>
                  <a:ea typeface="Roboto Medium"/>
                  <a:cs typeface="Roboto Medium"/>
                  <a:sym typeface="Roboto Medium"/>
                </a:rPr>
                <a:t>Deliver</a:t>
              </a:r>
              <a:endParaRPr sz="3100">
                <a:solidFill>
                  <a:srgbClr val="0E9453"/>
                </a:solidFill>
                <a:latin typeface="Roboto Medium"/>
                <a:ea typeface="Roboto Medium"/>
                <a:cs typeface="Roboto Medium"/>
                <a:sym typeface="Roboto Medium"/>
              </a:endParaRPr>
            </a:p>
          </p:txBody>
        </p:sp>
        <p:sp>
          <p:nvSpPr>
            <p:cNvPr id="310" name="Google Shape;310;g3ada265f958_0_6"/>
            <p:cNvSpPr/>
            <p:nvPr/>
          </p:nvSpPr>
          <p:spPr>
            <a:xfrm>
              <a:off x="2789787" y="3973000"/>
              <a:ext cx="3776100" cy="731700"/>
            </a:xfrm>
            <a:prstGeom prst="rect">
              <a:avLst/>
            </a:prstGeom>
            <a:solidFill>
              <a:srgbClr val="0E945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ada265f958_0_6"/>
            <p:cNvSpPr txBox="1"/>
            <p:nvPr/>
          </p:nvSpPr>
          <p:spPr>
            <a:xfrm>
              <a:off x="2903000" y="4357389"/>
              <a:ext cx="3497700" cy="152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Produce a model-ready dataset with 21 Predictive variables </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to estimate the December 2025 unemployment rate</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FFFFFF"/>
                </a:solidFill>
                <a:latin typeface="Roboto"/>
                <a:ea typeface="Roboto"/>
                <a:cs typeface="Roboto"/>
                <a:sym typeface="Roboto"/>
              </a:endParaRPr>
            </a:p>
          </p:txBody>
        </p:sp>
      </p:grpSp>
      <p:sp>
        <p:nvSpPr>
          <p:cNvPr id="312" name="Google Shape;312;g3ada265f958_0_6"/>
          <p:cNvSpPr txBox="1"/>
          <p:nvPr/>
        </p:nvSpPr>
        <p:spPr>
          <a:xfrm>
            <a:off x="2968150" y="2614413"/>
            <a:ext cx="4454700" cy="62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FFFFFF"/>
                </a:solidFill>
                <a:latin typeface="Roboto"/>
                <a:ea typeface="Roboto"/>
                <a:cs typeface="Roboto"/>
                <a:sym typeface="Roboto"/>
              </a:rPr>
              <a:t>Standardize frequencies, convert to monthly, remove missing values, use seasonally adjusted (SA) series where available</a:t>
            </a:r>
            <a:endParaRPr sz="12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t/>
            </a:r>
            <a:endParaRPr sz="1410">
              <a:solidFill>
                <a:srgbClr val="FFFFFF"/>
              </a:solidFill>
              <a:latin typeface="Roboto"/>
              <a:ea typeface="Roboto"/>
              <a:cs typeface="Roboto"/>
              <a:sym typeface="Roboto"/>
            </a:endParaRPr>
          </a:p>
          <a:p>
            <a:pPr indent="0" lvl="0" marL="0" rtl="0" algn="l">
              <a:spcBef>
                <a:spcPts val="0"/>
              </a:spcBef>
              <a:spcAft>
                <a:spcPts val="0"/>
              </a:spcAft>
              <a:buNone/>
            </a:pPr>
            <a:r>
              <a:t/>
            </a:r>
            <a:endParaRPr sz="2400">
              <a:solidFill>
                <a:schemeClr val="dk2"/>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ada265f958_0_12"/>
          <p:cNvSpPr txBox="1"/>
          <p:nvPr>
            <p:ph idx="1" type="body"/>
          </p:nvPr>
        </p:nvSpPr>
        <p:spPr>
          <a:xfrm>
            <a:off x="359775" y="1608000"/>
            <a:ext cx="3849000" cy="4579200"/>
          </a:xfrm>
          <a:prstGeom prst="rect">
            <a:avLst/>
          </a:prstGeom>
          <a:noFill/>
          <a:ln>
            <a:noFill/>
          </a:ln>
        </p:spPr>
        <p:txBody>
          <a:bodyPr anchorCtr="0" anchor="t" bIns="45700" lIns="0" spcFirstLastPara="1" rIns="0" wrap="square" tIns="45700">
            <a:normAutofit/>
          </a:bodyPr>
          <a:lstStyle/>
          <a:p>
            <a:pPr indent="-330200" lvl="0" marL="45720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ICSA &amp; CCSA show extreme spikes during </a:t>
            </a:r>
            <a:r>
              <a:rPr b="1" lang="en-US" sz="1600">
                <a:solidFill>
                  <a:schemeClr val="dk1"/>
                </a:solidFill>
                <a:latin typeface="Arial"/>
                <a:ea typeface="Arial"/>
                <a:cs typeface="Arial"/>
                <a:sym typeface="Arial"/>
              </a:rPr>
              <a:t>COVID layoffs</a:t>
            </a:r>
            <a:endParaRPr b="1" sz="1600">
              <a:solidFill>
                <a:schemeClr val="dk1"/>
              </a:solidFill>
              <a:latin typeface="Arial"/>
              <a:ea typeface="Arial"/>
              <a:cs typeface="Arial"/>
              <a:sym typeface="Arial"/>
            </a:endParaRPr>
          </a:p>
          <a:p>
            <a:pPr indent="-330200" lvl="0" marL="457200" rtl="0" algn="l">
              <a:lnSpc>
                <a:spcPct val="115000"/>
              </a:lnSpc>
              <a:spcBef>
                <a:spcPts val="1000"/>
              </a:spcBef>
              <a:spcAft>
                <a:spcPts val="0"/>
              </a:spcAft>
              <a:buClr>
                <a:schemeClr val="dk1"/>
              </a:buClr>
              <a:buSzPts val="1600"/>
              <a:buFont typeface="Arial"/>
              <a:buChar char="●"/>
            </a:pPr>
            <a:r>
              <a:rPr lang="en-US" sz="1600">
                <a:solidFill>
                  <a:schemeClr val="dk1"/>
                </a:solidFill>
                <a:latin typeface="Arial"/>
                <a:ea typeface="Arial"/>
                <a:cs typeface="Arial"/>
                <a:sym typeface="Arial"/>
              </a:rPr>
              <a:t>UNRATE jumps to </a:t>
            </a:r>
            <a:r>
              <a:rPr b="1" lang="en-US" sz="1600">
                <a:solidFill>
                  <a:schemeClr val="dk1"/>
                </a:solidFill>
                <a:latin typeface="Arial"/>
                <a:ea typeface="Arial"/>
                <a:cs typeface="Arial"/>
                <a:sym typeface="Arial"/>
              </a:rPr>
              <a:t>14.8%</a:t>
            </a:r>
            <a:r>
              <a:rPr lang="en-US" sz="1600">
                <a:solidFill>
                  <a:schemeClr val="dk1"/>
                </a:solidFill>
                <a:latin typeface="Arial"/>
                <a:ea typeface="Arial"/>
                <a:cs typeface="Arial"/>
                <a:sym typeface="Arial"/>
              </a:rPr>
              <a:t> in 2020, declines with reopening</a:t>
            </a:r>
            <a:endParaRPr sz="1600">
              <a:solidFill>
                <a:schemeClr val="dk1"/>
              </a:solidFill>
              <a:latin typeface="Arial"/>
              <a:ea typeface="Arial"/>
              <a:cs typeface="Arial"/>
              <a:sym typeface="Arial"/>
            </a:endParaRPr>
          </a:p>
          <a:p>
            <a:pPr indent="-330200" lvl="0" marL="457200" rtl="0" algn="l">
              <a:lnSpc>
                <a:spcPct val="115000"/>
              </a:lnSpc>
              <a:spcBef>
                <a:spcPts val="1000"/>
              </a:spcBef>
              <a:spcAft>
                <a:spcPts val="0"/>
              </a:spcAft>
              <a:buClr>
                <a:schemeClr val="dk1"/>
              </a:buClr>
              <a:buSzPts val="1600"/>
              <a:buFont typeface="Arial"/>
              <a:buChar char="●"/>
            </a:pPr>
            <a:r>
              <a:rPr lang="en-US" sz="1600">
                <a:solidFill>
                  <a:schemeClr val="dk1"/>
                </a:solidFill>
                <a:latin typeface="Arial"/>
                <a:ea typeface="Arial"/>
                <a:cs typeface="Arial"/>
                <a:sym typeface="Arial"/>
              </a:rPr>
              <a:t>PAYEMS shows </a:t>
            </a:r>
            <a:r>
              <a:rPr b="1" lang="en-US" sz="1600">
                <a:solidFill>
                  <a:schemeClr val="dk1"/>
                </a:solidFill>
                <a:latin typeface="Arial"/>
                <a:ea typeface="Arial"/>
                <a:cs typeface="Arial"/>
                <a:sym typeface="Arial"/>
              </a:rPr>
              <a:t>long-term job growth</a:t>
            </a:r>
            <a:r>
              <a:rPr lang="en-US" sz="1600">
                <a:solidFill>
                  <a:schemeClr val="dk1"/>
                </a:solidFill>
                <a:latin typeface="Arial"/>
                <a:ea typeface="Arial"/>
                <a:cs typeface="Arial"/>
                <a:sym typeface="Arial"/>
              </a:rPr>
              <a:t> with dips in recessions</a:t>
            </a:r>
            <a:endParaRPr sz="1600">
              <a:solidFill>
                <a:schemeClr val="dk1"/>
              </a:solidFill>
              <a:latin typeface="Arial"/>
              <a:ea typeface="Arial"/>
              <a:cs typeface="Arial"/>
              <a:sym typeface="Arial"/>
            </a:endParaRPr>
          </a:p>
          <a:p>
            <a:pPr indent="-330200" lvl="0" marL="457200" rtl="0" algn="l">
              <a:lnSpc>
                <a:spcPct val="115000"/>
              </a:lnSpc>
              <a:spcBef>
                <a:spcPts val="1000"/>
              </a:spcBef>
              <a:spcAft>
                <a:spcPts val="0"/>
              </a:spcAft>
              <a:buClr>
                <a:schemeClr val="dk1"/>
              </a:buClr>
              <a:buSzPts val="1600"/>
              <a:buFont typeface="Arial"/>
              <a:buChar char="●"/>
            </a:pPr>
            <a:r>
              <a:rPr lang="en-US" sz="1600">
                <a:solidFill>
                  <a:schemeClr val="dk1"/>
                </a:solidFill>
                <a:latin typeface="Arial"/>
                <a:ea typeface="Arial"/>
                <a:cs typeface="Arial"/>
                <a:sym typeface="Arial"/>
              </a:rPr>
              <a:t>JTSJOL increases sharply post-2015 → strong labor demand</a:t>
            </a:r>
            <a:endParaRPr sz="1600">
              <a:solidFill>
                <a:schemeClr val="dk1"/>
              </a:solidFill>
              <a:latin typeface="Arial"/>
              <a:ea typeface="Arial"/>
              <a:cs typeface="Arial"/>
              <a:sym typeface="Arial"/>
            </a:endParaRPr>
          </a:p>
          <a:p>
            <a:pPr indent="-330200" lvl="0" marL="457200" rtl="0" algn="l">
              <a:lnSpc>
                <a:spcPct val="115000"/>
              </a:lnSpc>
              <a:spcBef>
                <a:spcPts val="1000"/>
              </a:spcBef>
              <a:spcAft>
                <a:spcPts val="0"/>
              </a:spcAft>
              <a:buClr>
                <a:schemeClr val="dk1"/>
              </a:buClr>
              <a:buSzPts val="1600"/>
              <a:buFont typeface="Arial"/>
              <a:buChar char="●"/>
            </a:pPr>
            <a:r>
              <a:rPr lang="en-US" sz="1600">
                <a:solidFill>
                  <a:schemeClr val="dk1"/>
                </a:solidFill>
                <a:latin typeface="Arial"/>
                <a:ea typeface="Arial"/>
                <a:cs typeface="Arial"/>
                <a:sym typeface="Arial"/>
              </a:rPr>
              <a:t>CPIAUCSL rises smoothly → inflation cycle</a:t>
            </a:r>
            <a:endParaRPr sz="1600">
              <a:solidFill>
                <a:schemeClr val="dk1"/>
              </a:solidFill>
              <a:latin typeface="Arial"/>
              <a:ea typeface="Arial"/>
              <a:cs typeface="Arial"/>
              <a:sym typeface="Arial"/>
            </a:endParaRPr>
          </a:p>
          <a:p>
            <a:pPr indent="-330200" lvl="0" marL="457200" rtl="0" algn="l">
              <a:lnSpc>
                <a:spcPct val="115000"/>
              </a:lnSpc>
              <a:spcBef>
                <a:spcPts val="1000"/>
              </a:spcBef>
              <a:spcAft>
                <a:spcPts val="1000"/>
              </a:spcAft>
              <a:buClr>
                <a:schemeClr val="dk1"/>
              </a:buClr>
              <a:buSzPts val="1600"/>
              <a:buFont typeface="Arial"/>
              <a:buChar char="●"/>
            </a:pPr>
            <a:r>
              <a:rPr lang="en-US" sz="1600">
                <a:solidFill>
                  <a:schemeClr val="dk1"/>
                </a:solidFill>
                <a:latin typeface="Arial"/>
                <a:ea typeface="Arial"/>
                <a:cs typeface="Arial"/>
                <a:sym typeface="Arial"/>
              </a:rPr>
              <a:t>FEDFUNDS shows policy cycles, zero-lower bound (2008–2015)</a:t>
            </a:r>
            <a:endParaRPr sz="1600">
              <a:solidFill>
                <a:schemeClr val="dk1"/>
              </a:solidFill>
              <a:latin typeface="Arial"/>
              <a:ea typeface="Arial"/>
              <a:cs typeface="Arial"/>
              <a:sym typeface="Arial"/>
            </a:endParaRPr>
          </a:p>
        </p:txBody>
      </p:sp>
      <p:sp>
        <p:nvSpPr>
          <p:cNvPr id="318" name="Google Shape;318;g3ada265f958_0_12"/>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Exploratory Data Analysis (Trends)</a:t>
            </a:r>
            <a:endParaRPr/>
          </a:p>
        </p:txBody>
      </p:sp>
      <p:sp>
        <p:nvSpPr>
          <p:cNvPr id="319" name="Google Shape;319;g3ada265f958_0_12"/>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sp>
        <p:nvSpPr>
          <p:cNvPr id="320" name="Google Shape;320;g3ada265f958_0_12"/>
          <p:cNvSpPr txBox="1"/>
          <p:nvPr/>
        </p:nvSpPr>
        <p:spPr>
          <a:xfrm>
            <a:off x="4308700" y="1944775"/>
            <a:ext cx="4667100" cy="35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Helvetica Neue"/>
              <a:ea typeface="Helvetica Neue"/>
              <a:cs typeface="Helvetica Neue"/>
              <a:sym typeface="Helvetica Neue"/>
            </a:endParaRPr>
          </a:p>
        </p:txBody>
      </p:sp>
      <p:pic>
        <p:nvPicPr>
          <p:cNvPr id="321" name="Google Shape;321;g3ada265f958_0_12"/>
          <p:cNvPicPr preferRelativeResize="0"/>
          <p:nvPr/>
        </p:nvPicPr>
        <p:blipFill>
          <a:blip r:embed="rId3">
            <a:alphaModFix/>
          </a:blip>
          <a:stretch>
            <a:fillRect/>
          </a:stretch>
        </p:blipFill>
        <p:spPr>
          <a:xfrm>
            <a:off x="4308700" y="2120625"/>
            <a:ext cx="4667100" cy="3070151"/>
          </a:xfrm>
          <a:prstGeom prst="rect">
            <a:avLst/>
          </a:prstGeom>
          <a:noFill/>
          <a:ln>
            <a:noFill/>
          </a:ln>
        </p:spPr>
      </p:pic>
      <p:sp>
        <p:nvSpPr>
          <p:cNvPr id="322" name="Google Shape;322;g3ada265f958_0_12"/>
          <p:cNvSpPr txBox="1"/>
          <p:nvPr/>
        </p:nvSpPr>
        <p:spPr>
          <a:xfrm>
            <a:off x="4493075" y="5290050"/>
            <a:ext cx="4418100" cy="89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accent1"/>
                </a:solidFill>
                <a:latin typeface="Helvetica Neue"/>
                <a:ea typeface="Helvetica Neue"/>
                <a:cs typeface="Helvetica Neue"/>
                <a:sym typeface="Helvetica Neue"/>
              </a:rPr>
              <a:t>red: initial claims, </a:t>
            </a:r>
            <a:r>
              <a:rPr lang="en-US" sz="1100">
                <a:solidFill>
                  <a:srgbClr val="0C8148"/>
                </a:solidFill>
                <a:latin typeface="Helvetica Neue"/>
                <a:ea typeface="Helvetica Neue"/>
                <a:cs typeface="Helvetica Neue"/>
                <a:sym typeface="Helvetica Neue"/>
              </a:rPr>
              <a:t>green: unemployement rate</a:t>
            </a:r>
            <a:endParaRPr sz="1100">
              <a:solidFill>
                <a:srgbClr val="0C8148"/>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ada265f958_0_18"/>
          <p:cNvSpPr txBox="1"/>
          <p:nvPr>
            <p:ph idx="1" type="body"/>
          </p:nvPr>
        </p:nvSpPr>
        <p:spPr>
          <a:xfrm>
            <a:off x="628625" y="1561125"/>
            <a:ext cx="2955000" cy="4116000"/>
          </a:xfrm>
          <a:prstGeom prst="rect">
            <a:avLst/>
          </a:prstGeom>
          <a:noFill/>
          <a:ln>
            <a:noFill/>
          </a:ln>
        </p:spPr>
        <p:txBody>
          <a:bodyPr anchorCtr="0" anchor="t" bIns="45700" lIns="0" spcFirstLastPara="1" rIns="0" wrap="square" tIns="45700">
            <a:normAutofit/>
          </a:bodyPr>
          <a:lstStyle/>
          <a:p>
            <a:pPr indent="0" lvl="0" marL="0" rtl="0" algn="l">
              <a:lnSpc>
                <a:spcPct val="115000"/>
              </a:lnSpc>
              <a:spcBef>
                <a:spcPts val="1200"/>
              </a:spcBef>
              <a:spcAft>
                <a:spcPts val="0"/>
              </a:spcAft>
              <a:buNone/>
            </a:pPr>
            <a:r>
              <a:rPr b="1" lang="en-US" sz="1500">
                <a:solidFill>
                  <a:schemeClr val="dk1"/>
                </a:solidFill>
                <a:latin typeface="Arial"/>
                <a:ea typeface="Arial"/>
                <a:cs typeface="Arial"/>
                <a:sym typeface="Arial"/>
              </a:rPr>
              <a:t>Feature Engineering Applied</a:t>
            </a:r>
            <a:endParaRPr b="1" sz="1500">
              <a:solidFill>
                <a:schemeClr val="dk1"/>
              </a:solidFill>
              <a:latin typeface="Arial"/>
              <a:ea typeface="Arial"/>
              <a:cs typeface="Arial"/>
              <a:sym typeface="Arial"/>
            </a:endParaRPr>
          </a:p>
          <a:p>
            <a:pPr indent="-323850" lvl="0" marL="457200" rtl="0" algn="l">
              <a:lnSpc>
                <a:spcPct val="115000"/>
              </a:lnSpc>
              <a:spcBef>
                <a:spcPts val="1000"/>
              </a:spcBef>
              <a:spcAft>
                <a:spcPts val="0"/>
              </a:spcAft>
              <a:buClr>
                <a:schemeClr val="dk1"/>
              </a:buClr>
              <a:buSzPts val="1500"/>
              <a:buChar char="●"/>
            </a:pPr>
            <a:r>
              <a:rPr b="1" lang="en-US" sz="1500">
                <a:solidFill>
                  <a:schemeClr val="dk1"/>
                </a:solidFill>
                <a:latin typeface="Arial"/>
                <a:ea typeface="Arial"/>
                <a:cs typeface="Arial"/>
                <a:sym typeface="Arial"/>
              </a:rPr>
              <a:t>Monthly averages</a:t>
            </a:r>
            <a:r>
              <a:rPr lang="en-US" sz="1500">
                <a:solidFill>
                  <a:schemeClr val="dk1"/>
                </a:solidFill>
                <a:latin typeface="Arial"/>
                <a:ea typeface="Arial"/>
                <a:cs typeface="Arial"/>
                <a:sym typeface="Arial"/>
              </a:rPr>
              <a:t> for weekly claims (ICSA, CCSA)</a:t>
            </a:r>
            <a:endParaRPr sz="1500">
              <a:solidFill>
                <a:schemeClr val="dk1"/>
              </a:solidFill>
              <a:latin typeface="Arial"/>
              <a:ea typeface="Arial"/>
              <a:cs typeface="Arial"/>
              <a:sym typeface="Arial"/>
            </a:endParaRPr>
          </a:p>
          <a:p>
            <a:pPr indent="-323850" lvl="0" marL="457200" rtl="0" algn="l">
              <a:lnSpc>
                <a:spcPct val="115000"/>
              </a:lnSpc>
              <a:spcBef>
                <a:spcPts val="1000"/>
              </a:spcBef>
              <a:spcAft>
                <a:spcPts val="0"/>
              </a:spcAft>
              <a:buClr>
                <a:schemeClr val="dk1"/>
              </a:buClr>
              <a:buSzPts val="1500"/>
              <a:buChar char="●"/>
            </a:pPr>
            <a:r>
              <a:rPr b="1" lang="en-US" sz="1500">
                <a:solidFill>
                  <a:schemeClr val="dk1"/>
                </a:solidFill>
                <a:latin typeface="Arial"/>
                <a:ea typeface="Arial"/>
                <a:cs typeface="Arial"/>
                <a:sym typeface="Arial"/>
              </a:rPr>
              <a:t>Log transforms</a:t>
            </a:r>
            <a:r>
              <a:rPr lang="en-US" sz="1500">
                <a:solidFill>
                  <a:schemeClr val="dk1"/>
                </a:solidFill>
                <a:latin typeface="Arial"/>
                <a:ea typeface="Arial"/>
                <a:cs typeface="Arial"/>
                <a:sym typeface="Arial"/>
              </a:rPr>
              <a:t> to smooth spikes in claims</a:t>
            </a:r>
            <a:endParaRPr sz="1500">
              <a:solidFill>
                <a:schemeClr val="dk1"/>
              </a:solidFill>
              <a:latin typeface="Arial"/>
              <a:ea typeface="Arial"/>
              <a:cs typeface="Arial"/>
              <a:sym typeface="Arial"/>
            </a:endParaRPr>
          </a:p>
          <a:p>
            <a:pPr indent="-323850" lvl="0" marL="457200" rtl="0" algn="l">
              <a:lnSpc>
                <a:spcPct val="115000"/>
              </a:lnSpc>
              <a:spcBef>
                <a:spcPts val="1000"/>
              </a:spcBef>
              <a:spcAft>
                <a:spcPts val="0"/>
              </a:spcAft>
              <a:buClr>
                <a:schemeClr val="dk1"/>
              </a:buClr>
              <a:buSzPts val="1500"/>
              <a:buChar char="●"/>
            </a:pPr>
            <a:r>
              <a:rPr b="1" lang="en-US" sz="1500">
                <a:solidFill>
                  <a:schemeClr val="dk1"/>
                </a:solidFill>
                <a:latin typeface="Arial"/>
                <a:ea typeface="Arial"/>
                <a:cs typeface="Arial"/>
                <a:sym typeface="Arial"/>
              </a:rPr>
              <a:t>Lagged PAYEMS (t-1)</a:t>
            </a:r>
            <a:r>
              <a:rPr lang="en-US" sz="1500">
                <a:solidFill>
                  <a:schemeClr val="dk1"/>
                </a:solidFill>
                <a:latin typeface="Arial"/>
                <a:ea typeface="Arial"/>
                <a:cs typeface="Arial"/>
                <a:sym typeface="Arial"/>
              </a:rPr>
              <a:t> to capture leading job growth effects</a:t>
            </a:r>
            <a:endParaRPr sz="1500">
              <a:solidFill>
                <a:schemeClr val="dk1"/>
              </a:solidFill>
              <a:latin typeface="Arial"/>
              <a:ea typeface="Arial"/>
              <a:cs typeface="Arial"/>
              <a:sym typeface="Arial"/>
            </a:endParaRPr>
          </a:p>
          <a:p>
            <a:pPr indent="-323850" lvl="0" marL="457200" rtl="0" algn="l">
              <a:lnSpc>
                <a:spcPct val="115000"/>
              </a:lnSpc>
              <a:spcBef>
                <a:spcPts val="1000"/>
              </a:spcBef>
              <a:spcAft>
                <a:spcPts val="1000"/>
              </a:spcAft>
              <a:buClr>
                <a:schemeClr val="dk1"/>
              </a:buClr>
              <a:buSzPts val="1500"/>
              <a:buChar char="●"/>
            </a:pPr>
            <a:r>
              <a:rPr b="1" lang="en-US" sz="1500">
                <a:solidFill>
                  <a:schemeClr val="dk1"/>
                </a:solidFill>
                <a:latin typeface="Arial"/>
                <a:ea typeface="Arial"/>
                <a:cs typeface="Arial"/>
                <a:sym typeface="Arial"/>
              </a:rPr>
              <a:t>Rolling averages (3-month)</a:t>
            </a:r>
            <a:r>
              <a:rPr lang="en-US" sz="1500">
                <a:solidFill>
                  <a:schemeClr val="dk1"/>
                </a:solidFill>
                <a:latin typeface="Arial"/>
                <a:ea typeface="Arial"/>
                <a:cs typeface="Arial"/>
                <a:sym typeface="Arial"/>
              </a:rPr>
              <a:t> for unemployment persistence</a:t>
            </a:r>
            <a:endParaRPr sz="2800">
              <a:solidFill>
                <a:schemeClr val="dk1"/>
              </a:solidFill>
            </a:endParaRPr>
          </a:p>
        </p:txBody>
      </p:sp>
      <p:sp>
        <p:nvSpPr>
          <p:cNvPr id="328" name="Google Shape;328;g3ada265f958_0_18"/>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Correlations &amp; Feature Engineering</a:t>
            </a:r>
            <a:endParaRPr/>
          </a:p>
        </p:txBody>
      </p:sp>
      <p:sp>
        <p:nvSpPr>
          <p:cNvPr id="329" name="Google Shape;329;g3ada265f958_0_18"/>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sp>
        <p:nvSpPr>
          <p:cNvPr id="330" name="Google Shape;330;g3ada265f958_0_18"/>
          <p:cNvSpPr txBox="1"/>
          <p:nvPr/>
        </p:nvSpPr>
        <p:spPr>
          <a:xfrm>
            <a:off x="3739925" y="1522050"/>
            <a:ext cx="4982400" cy="489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500">
                <a:solidFill>
                  <a:schemeClr val="dk1"/>
                </a:solidFill>
              </a:rPr>
              <a:t>Key Correlations</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US" sz="1500">
                <a:solidFill>
                  <a:schemeClr val="dk1"/>
                </a:solidFill>
              </a:rPr>
              <a:t>Job Openings (JTSJOL)</a:t>
            </a:r>
            <a:r>
              <a:rPr lang="en-US" sz="1500">
                <a:solidFill>
                  <a:schemeClr val="dk1"/>
                </a:solidFill>
              </a:rPr>
              <a:t> shows a </a:t>
            </a:r>
            <a:r>
              <a:rPr b="1" lang="en-US" sz="1500">
                <a:solidFill>
                  <a:schemeClr val="dk1"/>
                </a:solidFill>
              </a:rPr>
              <a:t>strong negative relationship</a:t>
            </a:r>
            <a:r>
              <a:rPr lang="en-US" sz="1500">
                <a:solidFill>
                  <a:schemeClr val="dk1"/>
                </a:solidFill>
              </a:rPr>
              <a:t> with U-3 (−0.60), confirming that tighter labor markets reduce unemployment</a:t>
            </a:r>
            <a:r>
              <a:rPr lang="en-US" sz="1500">
                <a:solidFill>
                  <a:schemeClr val="dk1"/>
                </a:solidFill>
              </a:rPr>
              <a:t>.</a:t>
            </a:r>
            <a:endParaRPr sz="1500">
              <a:solidFill>
                <a:schemeClr val="dk1"/>
              </a:solidFill>
            </a:endParaRPr>
          </a:p>
          <a:p>
            <a:pPr indent="-323850" lvl="0" marL="457200" rtl="0" algn="l">
              <a:lnSpc>
                <a:spcPct val="115000"/>
              </a:lnSpc>
              <a:spcBef>
                <a:spcPts val="1000"/>
              </a:spcBef>
              <a:spcAft>
                <a:spcPts val="0"/>
              </a:spcAft>
              <a:buClr>
                <a:schemeClr val="dk1"/>
              </a:buClr>
              <a:buSzPts val="1500"/>
              <a:buChar char="●"/>
            </a:pPr>
            <a:r>
              <a:rPr b="1" lang="en-US" sz="1500">
                <a:solidFill>
                  <a:schemeClr val="dk1"/>
                </a:solidFill>
              </a:rPr>
              <a:t>Initial &amp; Continued Claims (ICSA, CCSA)</a:t>
            </a:r>
            <a:r>
              <a:rPr lang="en-US" sz="1500">
                <a:solidFill>
                  <a:schemeClr val="dk1"/>
                </a:solidFill>
              </a:rPr>
              <a:t> show </a:t>
            </a:r>
            <a:r>
              <a:rPr b="1" lang="en-US" sz="1500">
                <a:solidFill>
                  <a:schemeClr val="dk1"/>
                </a:solidFill>
              </a:rPr>
              <a:t>strong positive correlations with U-3</a:t>
            </a:r>
            <a:r>
              <a:rPr lang="en-US" sz="1500">
                <a:solidFill>
                  <a:schemeClr val="dk1"/>
                </a:solidFill>
              </a:rPr>
              <a:t> (0.55–0.72), indicating layoffs strongly drive unemployment.</a:t>
            </a:r>
            <a:endParaRPr sz="1500">
              <a:solidFill>
                <a:schemeClr val="dk1"/>
              </a:solidFill>
            </a:endParaRPr>
          </a:p>
          <a:p>
            <a:pPr indent="-323850" lvl="0" marL="457200" rtl="0" algn="l">
              <a:lnSpc>
                <a:spcPct val="115000"/>
              </a:lnSpc>
              <a:spcBef>
                <a:spcPts val="1000"/>
              </a:spcBef>
              <a:spcAft>
                <a:spcPts val="0"/>
              </a:spcAft>
              <a:buClr>
                <a:schemeClr val="dk1"/>
              </a:buClr>
              <a:buSzPts val="1500"/>
              <a:buChar char="●"/>
            </a:pPr>
            <a:r>
              <a:rPr b="1" lang="en-US" sz="1500">
                <a:solidFill>
                  <a:schemeClr val="dk1"/>
                </a:solidFill>
              </a:rPr>
              <a:t>Payroll Employment (PAYEMS)</a:t>
            </a:r>
            <a:r>
              <a:rPr lang="en-US" sz="1500">
                <a:solidFill>
                  <a:schemeClr val="dk1"/>
                </a:solidFill>
              </a:rPr>
              <a:t> is </a:t>
            </a:r>
            <a:r>
              <a:rPr b="1" lang="en-US" sz="1500">
                <a:solidFill>
                  <a:schemeClr val="dk1"/>
                </a:solidFill>
              </a:rPr>
              <a:t>strongly negatively correlated with U-3</a:t>
            </a:r>
            <a:r>
              <a:rPr lang="en-US" sz="1500">
                <a:solidFill>
                  <a:schemeClr val="dk1"/>
                </a:solidFill>
              </a:rPr>
              <a:t> (−0.65), meaning job growth precedes declines in unemployment.</a:t>
            </a:r>
            <a:endParaRPr sz="15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500">
                <a:solidFill>
                  <a:schemeClr val="dk1"/>
                </a:solidFill>
              </a:rPr>
              <a:t>CPI Inflation (CPIAUCSL)</a:t>
            </a:r>
            <a:r>
              <a:rPr lang="en-US" sz="1500">
                <a:solidFill>
                  <a:schemeClr val="dk1"/>
                </a:solidFill>
              </a:rPr>
              <a:t> and </a:t>
            </a:r>
            <a:r>
              <a:rPr b="1" lang="en-US" sz="1500">
                <a:solidFill>
                  <a:schemeClr val="dk1"/>
                </a:solidFill>
              </a:rPr>
              <a:t>Federal Funds Rate</a:t>
            </a:r>
            <a:r>
              <a:rPr lang="en-US" sz="1500">
                <a:solidFill>
                  <a:schemeClr val="dk1"/>
                </a:solidFill>
              </a:rPr>
              <a:t> have </a:t>
            </a:r>
            <a:r>
              <a:rPr b="1" lang="en-US" sz="1500">
                <a:solidFill>
                  <a:schemeClr val="dk1"/>
                </a:solidFill>
              </a:rPr>
              <a:t>moderate positive relationships with U-3</a:t>
            </a:r>
            <a:r>
              <a:rPr lang="en-US" sz="1500">
                <a:solidFill>
                  <a:schemeClr val="dk1"/>
                </a:solidFill>
              </a:rPr>
              <a:t> through monetary tightening and real wage effects.</a:t>
            </a:r>
            <a:br>
              <a:rPr lang="en-US" sz="1300">
                <a:solidFill>
                  <a:schemeClr val="dk1"/>
                </a:solidFill>
              </a:rPr>
            </a:br>
            <a:endParaRPr sz="1300">
              <a:solidFill>
                <a:schemeClr val="dk1"/>
              </a:solidFill>
            </a:endParaRPr>
          </a:p>
          <a:p>
            <a:pPr indent="0" lvl="0" marL="0" rtl="0" algn="l">
              <a:spcBef>
                <a:spcPts val="1000"/>
              </a:spcBef>
              <a:spcAft>
                <a:spcPts val="0"/>
              </a:spcAft>
              <a:buNone/>
            </a:pPr>
            <a:r>
              <a:t/>
            </a:r>
            <a:endParaRPr sz="2400">
              <a:solidFill>
                <a:schemeClr val="dk2"/>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aecbfccf9e_0_6"/>
          <p:cNvSpPr txBox="1"/>
          <p:nvPr>
            <p:ph idx="12" type="sldNum"/>
          </p:nvPr>
        </p:nvSpPr>
        <p:spPr>
          <a:xfrm>
            <a:off x="8515349" y="6456764"/>
            <a:ext cx="4605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800"/>
              <a:buFont typeface="Helvetica Neue"/>
              <a:buNone/>
            </a:pPr>
            <a:fld id="{00000000-1234-1234-1234-123412341234}" type="slidenum">
              <a:rPr lang="en-US"/>
              <a:t>‹#›</a:t>
            </a:fld>
            <a:endParaRPr/>
          </a:p>
        </p:txBody>
      </p:sp>
      <p:sp>
        <p:nvSpPr>
          <p:cNvPr id="337" name="Google Shape;337;g3aecbfccf9e_0_6"/>
          <p:cNvSpPr txBox="1"/>
          <p:nvPr>
            <p:ph type="title"/>
          </p:nvPr>
        </p:nvSpPr>
        <p:spPr>
          <a:xfrm>
            <a:off x="628650" y="508376"/>
            <a:ext cx="7886700" cy="823800"/>
          </a:xfrm>
          <a:prstGeom prst="rect">
            <a:avLst/>
          </a:prstGeom>
        </p:spPr>
        <p:txBody>
          <a:bodyPr anchorCtr="0" anchor="ctr" bIns="45700" lIns="0" spcFirstLastPara="1" rIns="0" wrap="square" tIns="45700">
            <a:normAutofit fontScale="90000"/>
          </a:bodyPr>
          <a:lstStyle/>
          <a:p>
            <a:pPr indent="0" lvl="0" marL="0" rtl="0" algn="l">
              <a:spcBef>
                <a:spcPts val="0"/>
              </a:spcBef>
              <a:spcAft>
                <a:spcPts val="0"/>
              </a:spcAft>
              <a:buClr>
                <a:schemeClr val="accent1"/>
              </a:buClr>
              <a:buSzPct val="100000"/>
              <a:buFont typeface="Helvetica Neue"/>
              <a:buNone/>
            </a:pPr>
            <a:r>
              <a:rPr lang="en-US"/>
              <a:t>Correlations &amp; Feature Engineering</a:t>
            </a:r>
            <a:endParaRPr/>
          </a:p>
          <a:p>
            <a:pPr indent="0" lvl="0" marL="0" rtl="0" algn="l">
              <a:spcBef>
                <a:spcPts val="0"/>
              </a:spcBef>
              <a:spcAft>
                <a:spcPts val="0"/>
              </a:spcAft>
              <a:buNone/>
            </a:pPr>
            <a:r>
              <a:t/>
            </a:r>
            <a:endParaRPr/>
          </a:p>
        </p:txBody>
      </p:sp>
      <p:pic>
        <p:nvPicPr>
          <p:cNvPr id="338" name="Google Shape;338;g3aecbfccf9e_0_6"/>
          <p:cNvPicPr preferRelativeResize="0"/>
          <p:nvPr/>
        </p:nvPicPr>
        <p:blipFill>
          <a:blip r:embed="rId3">
            <a:alphaModFix/>
          </a:blip>
          <a:stretch>
            <a:fillRect/>
          </a:stretch>
        </p:blipFill>
        <p:spPr>
          <a:xfrm>
            <a:off x="863598" y="1410075"/>
            <a:ext cx="7360402" cy="48156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ada265f958_0_24"/>
          <p:cNvSpPr txBox="1"/>
          <p:nvPr>
            <p:ph idx="1" type="body"/>
          </p:nvPr>
        </p:nvSpPr>
        <p:spPr>
          <a:xfrm>
            <a:off x="667500" y="1520075"/>
            <a:ext cx="7886700" cy="4761600"/>
          </a:xfrm>
          <a:prstGeom prst="rect">
            <a:avLst/>
          </a:prstGeom>
          <a:noFill/>
          <a:ln>
            <a:noFill/>
          </a:ln>
        </p:spPr>
        <p:txBody>
          <a:bodyPr anchorCtr="0" anchor="t" bIns="45700" lIns="0" spcFirstLastPara="1" rIns="0" wrap="square" tIns="45700">
            <a:normAutofit/>
          </a:bodyPr>
          <a:lstStyle/>
          <a:p>
            <a:pPr indent="-313372" lvl="0" marL="342900" rtl="0" algn="l">
              <a:lnSpc>
                <a:spcPct val="100000"/>
              </a:lnSpc>
              <a:spcBef>
                <a:spcPts val="0"/>
              </a:spcBef>
              <a:spcAft>
                <a:spcPts val="0"/>
              </a:spcAft>
              <a:buClr>
                <a:schemeClr val="dk1"/>
              </a:buClr>
              <a:buSzPts val="1935"/>
              <a:buChar char="•"/>
            </a:pPr>
            <a:r>
              <a:rPr lang="en-US" sz="1935">
                <a:solidFill>
                  <a:schemeClr val="dk1"/>
                </a:solidFill>
              </a:rPr>
              <a:t>Collected </a:t>
            </a:r>
            <a:r>
              <a:rPr b="1" lang="en-US" sz="1935">
                <a:solidFill>
                  <a:schemeClr val="dk1"/>
                </a:solidFill>
              </a:rPr>
              <a:t>monthly indicators</a:t>
            </a:r>
            <a:r>
              <a:rPr lang="en-US" sz="1935">
                <a:solidFill>
                  <a:schemeClr val="dk1"/>
                </a:solidFill>
              </a:rPr>
              <a:t> related to layoffs, payrolls, job openings, and unemployment trends</a:t>
            </a:r>
            <a:endParaRPr sz="1935">
              <a:solidFill>
                <a:schemeClr val="dk1"/>
              </a:solidFill>
            </a:endParaRPr>
          </a:p>
          <a:p>
            <a:pPr indent="-313372" lvl="0" marL="342900" rtl="0" algn="l">
              <a:lnSpc>
                <a:spcPct val="100000"/>
              </a:lnSpc>
              <a:spcBef>
                <a:spcPts val="1000"/>
              </a:spcBef>
              <a:spcAft>
                <a:spcPts val="0"/>
              </a:spcAft>
              <a:buClr>
                <a:schemeClr val="dk1"/>
              </a:buClr>
              <a:buSzPts val="1935"/>
              <a:buChar char="•"/>
            </a:pPr>
            <a:r>
              <a:rPr lang="en-US" sz="1935">
                <a:solidFill>
                  <a:schemeClr val="dk1"/>
                </a:solidFill>
              </a:rPr>
              <a:t>Created </a:t>
            </a:r>
            <a:r>
              <a:rPr b="1" lang="en-US" sz="1935">
                <a:solidFill>
                  <a:schemeClr val="dk1"/>
                </a:solidFill>
              </a:rPr>
              <a:t>versions</a:t>
            </a:r>
            <a:r>
              <a:rPr lang="en-US" sz="1935">
                <a:solidFill>
                  <a:schemeClr val="dk1"/>
                </a:solidFill>
              </a:rPr>
              <a:t> of these indicators using lags, percent changes, and moving averages to capture gradual labor-market shifts</a:t>
            </a:r>
            <a:endParaRPr sz="1935">
              <a:solidFill>
                <a:schemeClr val="dk1"/>
              </a:solidFill>
            </a:endParaRPr>
          </a:p>
          <a:p>
            <a:pPr indent="-313372" lvl="0" marL="342900" rtl="0" algn="l">
              <a:lnSpc>
                <a:spcPct val="100000"/>
              </a:lnSpc>
              <a:spcBef>
                <a:spcPts val="1000"/>
              </a:spcBef>
              <a:spcAft>
                <a:spcPts val="0"/>
              </a:spcAft>
              <a:buClr>
                <a:schemeClr val="dk1"/>
              </a:buClr>
              <a:buSzPts val="1935"/>
              <a:buChar char="•"/>
            </a:pPr>
            <a:r>
              <a:rPr lang="en-US" sz="1935">
                <a:solidFill>
                  <a:schemeClr val="dk1"/>
                </a:solidFill>
              </a:rPr>
              <a:t>Started with </a:t>
            </a:r>
            <a:r>
              <a:rPr b="1" lang="en-US" sz="1935">
                <a:solidFill>
                  <a:schemeClr val="dk1"/>
                </a:solidFill>
              </a:rPr>
              <a:t>20 macroeconomic predictors</a:t>
            </a:r>
            <a:r>
              <a:rPr lang="en-US" sz="1935">
                <a:solidFill>
                  <a:schemeClr val="dk1"/>
                </a:solidFill>
              </a:rPr>
              <a:t> (lags, pct changes, moving averages)</a:t>
            </a:r>
            <a:endParaRPr sz="1935">
              <a:solidFill>
                <a:schemeClr val="dk1"/>
              </a:solidFill>
            </a:endParaRPr>
          </a:p>
          <a:p>
            <a:pPr indent="-313372" lvl="0" marL="342900" rtl="0" algn="l">
              <a:lnSpc>
                <a:spcPct val="100000"/>
              </a:lnSpc>
              <a:spcBef>
                <a:spcPts val="1000"/>
              </a:spcBef>
              <a:spcAft>
                <a:spcPts val="0"/>
              </a:spcAft>
              <a:buClr>
                <a:schemeClr val="dk1"/>
              </a:buClr>
              <a:buSzPts val="1935"/>
              <a:buChar char="•"/>
            </a:pPr>
            <a:r>
              <a:rPr lang="en-US" sz="1935">
                <a:solidFill>
                  <a:schemeClr val="dk1"/>
                </a:solidFill>
              </a:rPr>
              <a:t>Applied step-by-step</a:t>
            </a:r>
            <a:r>
              <a:rPr b="1" lang="en-US" sz="1935">
                <a:solidFill>
                  <a:schemeClr val="dk1"/>
                </a:solidFill>
              </a:rPr>
              <a:t> Forward Selection</a:t>
            </a:r>
            <a:r>
              <a:rPr lang="en-US" sz="1935">
                <a:solidFill>
                  <a:schemeClr val="dk1"/>
                </a:solidFill>
              </a:rPr>
              <a:t> using F-tests to choose significant variables that meaningfully improved forecasting and reduced error</a:t>
            </a:r>
            <a:endParaRPr sz="1935">
              <a:solidFill>
                <a:schemeClr val="dk1"/>
              </a:solidFill>
            </a:endParaRPr>
          </a:p>
          <a:p>
            <a:pPr indent="-313372" lvl="0" marL="342900" rtl="0" algn="l">
              <a:lnSpc>
                <a:spcPct val="100000"/>
              </a:lnSpc>
              <a:spcBef>
                <a:spcPts val="1000"/>
              </a:spcBef>
              <a:spcAft>
                <a:spcPts val="0"/>
              </a:spcAft>
              <a:buClr>
                <a:schemeClr val="dk1"/>
              </a:buClr>
              <a:buSzPts val="1935"/>
              <a:buChar char="•"/>
            </a:pPr>
            <a:r>
              <a:rPr lang="en-US" sz="1935">
                <a:solidFill>
                  <a:schemeClr val="dk1"/>
                </a:solidFill>
              </a:rPr>
              <a:t>Fit the final model on the full historical dataset and built a </a:t>
            </a:r>
            <a:r>
              <a:rPr b="1" lang="en-US" sz="1935">
                <a:solidFill>
                  <a:schemeClr val="dk1"/>
                </a:solidFill>
              </a:rPr>
              <a:t>linear regression</a:t>
            </a:r>
            <a:r>
              <a:rPr lang="en-US" sz="1935">
                <a:solidFill>
                  <a:schemeClr val="dk1"/>
                </a:solidFill>
              </a:rPr>
              <a:t> model </a:t>
            </a:r>
            <a:endParaRPr sz="1935">
              <a:solidFill>
                <a:schemeClr val="dk1"/>
              </a:solidFill>
            </a:endParaRPr>
          </a:p>
          <a:p>
            <a:pPr indent="-313372" lvl="0" marL="342900" rtl="0" algn="l">
              <a:lnSpc>
                <a:spcPct val="100000"/>
              </a:lnSpc>
              <a:spcBef>
                <a:spcPts val="1000"/>
              </a:spcBef>
              <a:spcAft>
                <a:spcPts val="1000"/>
              </a:spcAft>
              <a:buClr>
                <a:schemeClr val="dk1"/>
              </a:buClr>
              <a:buSzPts val="1935"/>
              <a:buChar char="•"/>
            </a:pPr>
            <a:r>
              <a:rPr b="1" lang="en-US" sz="1935">
                <a:solidFill>
                  <a:schemeClr val="dk1"/>
                </a:solidFill>
              </a:rPr>
              <a:t>Verified model</a:t>
            </a:r>
            <a:r>
              <a:rPr lang="en-US" sz="1935">
                <a:solidFill>
                  <a:schemeClr val="dk1"/>
                </a:solidFill>
              </a:rPr>
              <a:t> behavior using residual checks and normality diagnostics</a:t>
            </a:r>
            <a:endParaRPr sz="1935">
              <a:solidFill>
                <a:schemeClr val="dk1"/>
              </a:solidFill>
            </a:endParaRPr>
          </a:p>
        </p:txBody>
      </p:sp>
      <p:sp>
        <p:nvSpPr>
          <p:cNvPr id="344" name="Google Shape;344;g3ada265f958_0_24"/>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Modeling Approach</a:t>
            </a:r>
            <a:endParaRPr/>
          </a:p>
        </p:txBody>
      </p:sp>
      <p:sp>
        <p:nvSpPr>
          <p:cNvPr id="345" name="Google Shape;345;g3ada265f958_0_24"/>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ada265f958_0_30"/>
          <p:cNvSpPr txBox="1"/>
          <p:nvPr>
            <p:ph idx="1" type="body"/>
          </p:nvPr>
        </p:nvSpPr>
        <p:spPr>
          <a:xfrm>
            <a:off x="589575" y="1608000"/>
            <a:ext cx="4150500" cy="4657500"/>
          </a:xfrm>
          <a:prstGeom prst="rect">
            <a:avLst/>
          </a:prstGeom>
          <a:noFill/>
          <a:ln>
            <a:noFill/>
          </a:ln>
        </p:spPr>
        <p:txBody>
          <a:bodyPr anchorCtr="0" anchor="t" bIns="45700" lIns="0" spcFirstLastPara="1" rIns="0" wrap="square" tIns="45700">
            <a:noAutofit/>
          </a:bodyPr>
          <a:lstStyle/>
          <a:p>
            <a:pPr indent="-285750" lvl="0" marL="342900" rtl="0" algn="l">
              <a:lnSpc>
                <a:spcPct val="105000"/>
              </a:lnSpc>
              <a:spcBef>
                <a:spcPts val="0"/>
              </a:spcBef>
              <a:spcAft>
                <a:spcPts val="0"/>
              </a:spcAft>
              <a:buClr>
                <a:schemeClr val="dk1"/>
              </a:buClr>
              <a:buSzPts val="1500"/>
              <a:buChar char="•"/>
            </a:pPr>
            <a:r>
              <a:rPr lang="en-US" sz="1500">
                <a:solidFill>
                  <a:schemeClr val="dk1"/>
                </a:solidFill>
              </a:rPr>
              <a:t>The final regression model includes </a:t>
            </a:r>
            <a:r>
              <a:rPr b="1" lang="en-US" sz="1500">
                <a:solidFill>
                  <a:schemeClr val="dk1"/>
                </a:solidFill>
              </a:rPr>
              <a:t>ten predictors</a:t>
            </a:r>
            <a:r>
              <a:rPr lang="en-US" sz="1500">
                <a:solidFill>
                  <a:schemeClr val="dk1"/>
                </a:solidFill>
              </a:rPr>
              <a:t> chosen through forward selection, capturing layoffs, continued claims, payroll dynamics, and smoothed unemployment trends.</a:t>
            </a:r>
            <a:endParaRPr sz="1500">
              <a:solidFill>
                <a:schemeClr val="dk1"/>
              </a:solidFill>
            </a:endParaRPr>
          </a:p>
          <a:p>
            <a:pPr indent="-285750" lvl="0" marL="342900" rtl="0" algn="l">
              <a:lnSpc>
                <a:spcPct val="105000"/>
              </a:lnSpc>
              <a:spcBef>
                <a:spcPts val="1000"/>
              </a:spcBef>
              <a:spcAft>
                <a:spcPts val="0"/>
              </a:spcAft>
              <a:buClr>
                <a:schemeClr val="dk1"/>
              </a:buClr>
              <a:buSzPts val="1500"/>
              <a:buChar char="•"/>
            </a:pPr>
            <a:r>
              <a:rPr b="1" lang="en-US" sz="1500">
                <a:solidFill>
                  <a:schemeClr val="dk1"/>
                </a:solidFill>
              </a:rPr>
              <a:t>Multicollinearity expected</a:t>
            </a:r>
            <a:r>
              <a:rPr lang="en-US" sz="1500">
                <a:solidFill>
                  <a:schemeClr val="dk1"/>
                </a:solidFill>
              </a:rPr>
              <a:t> due to macroeconomic co-movement, but does not impede forecasting performance</a:t>
            </a:r>
            <a:endParaRPr sz="1500">
              <a:solidFill>
                <a:schemeClr val="dk1"/>
              </a:solidFill>
            </a:endParaRPr>
          </a:p>
          <a:p>
            <a:pPr indent="-285750" lvl="0" marL="342900" rtl="0" algn="l">
              <a:lnSpc>
                <a:spcPct val="105000"/>
              </a:lnSpc>
              <a:spcBef>
                <a:spcPts val="1000"/>
              </a:spcBef>
              <a:spcAft>
                <a:spcPts val="0"/>
              </a:spcAft>
              <a:buClr>
                <a:schemeClr val="dk1"/>
              </a:buClr>
              <a:buSzPts val="1500"/>
              <a:buChar char="•"/>
            </a:pPr>
            <a:r>
              <a:rPr lang="en-US" sz="1500">
                <a:solidFill>
                  <a:schemeClr val="dk1"/>
                </a:solidFill>
              </a:rPr>
              <a:t>The model’s errors behave as expected and is not showing signs of </a:t>
            </a:r>
            <a:r>
              <a:rPr b="1" lang="en-US" sz="1500">
                <a:solidFill>
                  <a:schemeClr val="dk1"/>
                </a:solidFill>
              </a:rPr>
              <a:t>distortion or bias</a:t>
            </a:r>
            <a:endParaRPr b="1" sz="1500">
              <a:solidFill>
                <a:schemeClr val="dk1"/>
              </a:solidFill>
            </a:endParaRPr>
          </a:p>
          <a:p>
            <a:pPr indent="-285750" lvl="0" marL="342900" rtl="0" algn="l">
              <a:lnSpc>
                <a:spcPct val="105000"/>
              </a:lnSpc>
              <a:spcBef>
                <a:spcPts val="1000"/>
              </a:spcBef>
              <a:spcAft>
                <a:spcPts val="0"/>
              </a:spcAft>
              <a:buClr>
                <a:schemeClr val="dk1"/>
              </a:buClr>
              <a:buSzPts val="1500"/>
              <a:buChar char="•"/>
            </a:pPr>
            <a:r>
              <a:rPr lang="en-US" sz="1500">
                <a:solidFill>
                  <a:schemeClr val="dk1"/>
                </a:solidFill>
              </a:rPr>
              <a:t>Parameter Estimates: </a:t>
            </a:r>
            <a:r>
              <a:rPr b="1" lang="en-US" sz="1500">
                <a:solidFill>
                  <a:schemeClr val="dk1"/>
                </a:solidFill>
              </a:rPr>
              <a:t>Coefficient signs </a:t>
            </a:r>
            <a:r>
              <a:rPr lang="en-US" sz="1500">
                <a:solidFill>
                  <a:schemeClr val="dk1"/>
                </a:solidFill>
              </a:rPr>
              <a:t>behave as expected: rising layoffs push unemployment up, while stronger payrolls pull it down</a:t>
            </a:r>
            <a:endParaRPr sz="1500">
              <a:solidFill>
                <a:schemeClr val="dk1"/>
              </a:solidFill>
            </a:endParaRPr>
          </a:p>
          <a:p>
            <a:pPr indent="-285750" lvl="0" marL="342900" rtl="0" algn="l">
              <a:lnSpc>
                <a:spcPct val="105000"/>
              </a:lnSpc>
              <a:spcBef>
                <a:spcPts val="1000"/>
              </a:spcBef>
              <a:spcAft>
                <a:spcPts val="1000"/>
              </a:spcAft>
              <a:buClr>
                <a:schemeClr val="dk1"/>
              </a:buClr>
              <a:buSzPts val="1500"/>
              <a:buChar char="•"/>
            </a:pPr>
            <a:r>
              <a:rPr lang="en-US" sz="1500">
                <a:solidFill>
                  <a:schemeClr val="dk1"/>
                </a:solidFill>
              </a:rPr>
              <a:t>Model explains broad cyclical behavior in unemployment </a:t>
            </a:r>
            <a:r>
              <a:rPr b="1" lang="en-US" sz="1500">
                <a:solidFill>
                  <a:schemeClr val="dk1"/>
                </a:solidFill>
              </a:rPr>
              <a:t>without overfitting</a:t>
            </a:r>
            <a:endParaRPr b="1" sz="1500">
              <a:solidFill>
                <a:schemeClr val="dk1"/>
              </a:solidFill>
            </a:endParaRPr>
          </a:p>
        </p:txBody>
      </p:sp>
      <p:sp>
        <p:nvSpPr>
          <p:cNvPr id="351" name="Google Shape;351;g3ada265f958_0_30"/>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Final Model Specification</a:t>
            </a:r>
            <a:endParaRPr/>
          </a:p>
        </p:txBody>
      </p:sp>
      <p:sp>
        <p:nvSpPr>
          <p:cNvPr id="352" name="Google Shape;352;g3ada265f958_0_30"/>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pic>
        <p:nvPicPr>
          <p:cNvPr id="353" name="Google Shape;353;g3ada265f958_0_30"/>
          <p:cNvPicPr preferRelativeResize="0"/>
          <p:nvPr/>
        </p:nvPicPr>
        <p:blipFill>
          <a:blip r:embed="rId3">
            <a:alphaModFix/>
          </a:blip>
          <a:stretch>
            <a:fillRect/>
          </a:stretch>
        </p:blipFill>
        <p:spPr>
          <a:xfrm>
            <a:off x="4876723" y="1924177"/>
            <a:ext cx="4060050" cy="2917001"/>
          </a:xfrm>
          <a:prstGeom prst="rect">
            <a:avLst/>
          </a:prstGeom>
          <a:noFill/>
          <a:ln>
            <a:noFill/>
          </a:ln>
        </p:spPr>
      </p:pic>
      <p:sp>
        <p:nvSpPr>
          <p:cNvPr id="354" name="Google Shape;354;g3ada265f958_0_30"/>
          <p:cNvSpPr txBox="1"/>
          <p:nvPr/>
        </p:nvSpPr>
        <p:spPr>
          <a:xfrm>
            <a:off x="5448375" y="4841175"/>
            <a:ext cx="3488400" cy="5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Helvetica Neue"/>
                <a:ea typeface="Helvetica Neue"/>
                <a:cs typeface="Helvetica Neue"/>
                <a:sym typeface="Helvetica Neue"/>
              </a:rPr>
              <a:t>Residuals are compared to a theoretical normal distribution, consistent with OLS error assumptions.</a:t>
            </a:r>
            <a:endParaRPr sz="1100">
              <a:solidFill>
                <a:schemeClr val="dk1"/>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a5fd78da0b_2_0"/>
          <p:cNvSpPr txBox="1"/>
          <p:nvPr>
            <p:ph idx="2" type="body"/>
          </p:nvPr>
        </p:nvSpPr>
        <p:spPr>
          <a:xfrm>
            <a:off x="4619150" y="1993575"/>
            <a:ext cx="4220400" cy="4627200"/>
          </a:xfrm>
          <a:prstGeom prst="rect">
            <a:avLst/>
          </a:prstGeom>
        </p:spPr>
        <p:txBody>
          <a:bodyPr anchorCtr="0" anchor="t" bIns="45700" lIns="0" spcFirstLastPara="1" rIns="0" wrap="square" tIns="45700">
            <a:normAutofit/>
          </a:bodyPr>
          <a:lstStyle/>
          <a:p>
            <a:pPr indent="-330200" lvl="0" marL="457200" rtl="0" algn="l">
              <a:lnSpc>
                <a:spcPct val="100000"/>
              </a:lnSpc>
              <a:spcBef>
                <a:spcPts val="1000"/>
              </a:spcBef>
              <a:spcAft>
                <a:spcPts val="0"/>
              </a:spcAft>
              <a:buClr>
                <a:schemeClr val="dk1"/>
              </a:buClr>
              <a:buSzPts val="1600"/>
              <a:buChar char="●"/>
            </a:pPr>
            <a:r>
              <a:rPr lang="en-US" sz="1600">
                <a:solidFill>
                  <a:schemeClr val="dk1"/>
                </a:solidFill>
              </a:rPr>
              <a:t>Different transformations </a:t>
            </a:r>
            <a:r>
              <a:rPr b="1" lang="en-US" sz="1600">
                <a:solidFill>
                  <a:schemeClr val="dk1"/>
                </a:solidFill>
              </a:rPr>
              <a:t>capture different economic behaviors</a:t>
            </a:r>
            <a:r>
              <a:rPr lang="en-US" sz="1600">
                <a:solidFill>
                  <a:schemeClr val="dk1"/>
                </a:solidFill>
              </a:rPr>
              <a:t>. Levels show long-term trends, percent changes capture acceleration, and lags capture delayed effects.</a:t>
            </a:r>
            <a:endParaRPr sz="1600">
              <a:solidFill>
                <a:schemeClr val="dk1"/>
              </a:solidFill>
            </a:endParaRPr>
          </a:p>
          <a:p>
            <a:pPr indent="-330200" lvl="0" marL="457200" rtl="0" algn="l">
              <a:lnSpc>
                <a:spcPct val="100000"/>
              </a:lnSpc>
              <a:spcBef>
                <a:spcPts val="1000"/>
              </a:spcBef>
              <a:spcAft>
                <a:spcPts val="0"/>
              </a:spcAft>
              <a:buClr>
                <a:schemeClr val="dk1"/>
              </a:buClr>
              <a:buSzPts val="1600"/>
              <a:buChar char="●"/>
            </a:pPr>
            <a:r>
              <a:rPr lang="en-US" sz="1600">
                <a:solidFill>
                  <a:schemeClr val="dk1"/>
                </a:solidFill>
              </a:rPr>
              <a:t>Labor-market indicators move slowly, so unemployment depends on both </a:t>
            </a:r>
            <a:r>
              <a:rPr b="1" lang="en-US" sz="1600">
                <a:solidFill>
                  <a:schemeClr val="dk1"/>
                </a:solidFill>
              </a:rPr>
              <a:t>current and past values </a:t>
            </a:r>
            <a:r>
              <a:rPr lang="en-US" sz="1600">
                <a:solidFill>
                  <a:schemeClr val="dk1"/>
                </a:solidFill>
              </a:rPr>
              <a:t>of payrolls and claims.</a:t>
            </a:r>
            <a:endParaRPr sz="1600">
              <a:solidFill>
                <a:schemeClr val="dk1"/>
              </a:solidFill>
            </a:endParaRPr>
          </a:p>
          <a:p>
            <a:pPr indent="-330200" lvl="0" marL="457200" rtl="0" algn="l">
              <a:lnSpc>
                <a:spcPct val="100000"/>
              </a:lnSpc>
              <a:spcBef>
                <a:spcPts val="1000"/>
              </a:spcBef>
              <a:spcAft>
                <a:spcPts val="0"/>
              </a:spcAft>
              <a:buClr>
                <a:schemeClr val="dk1"/>
              </a:buClr>
              <a:buSzPts val="1600"/>
              <a:buChar char="●"/>
            </a:pPr>
            <a:r>
              <a:rPr lang="en-US" sz="1600">
                <a:solidFill>
                  <a:schemeClr val="dk1"/>
                </a:solidFill>
              </a:rPr>
              <a:t>Each form contributed </a:t>
            </a:r>
            <a:r>
              <a:rPr b="1" lang="en-US" sz="1600">
                <a:solidFill>
                  <a:schemeClr val="dk1"/>
                </a:solidFill>
              </a:rPr>
              <a:t>unique predictive signal</a:t>
            </a:r>
            <a:r>
              <a:rPr lang="en-US" sz="1600">
                <a:solidFill>
                  <a:schemeClr val="dk1"/>
                </a:solidFill>
              </a:rPr>
              <a:t> during forward selection, even if the variables are related.</a:t>
            </a:r>
            <a:endParaRPr sz="1600">
              <a:solidFill>
                <a:schemeClr val="dk1"/>
              </a:solidFill>
            </a:endParaRPr>
          </a:p>
          <a:p>
            <a:pPr indent="-330200" lvl="0" marL="457200" rtl="0" algn="l">
              <a:lnSpc>
                <a:spcPct val="100000"/>
              </a:lnSpc>
              <a:spcBef>
                <a:spcPts val="1000"/>
              </a:spcBef>
              <a:spcAft>
                <a:spcPts val="1000"/>
              </a:spcAft>
              <a:buClr>
                <a:schemeClr val="dk1"/>
              </a:buClr>
              <a:buSzPts val="1600"/>
              <a:buChar char="●"/>
            </a:pPr>
            <a:r>
              <a:rPr lang="en-US" sz="1600">
                <a:solidFill>
                  <a:schemeClr val="dk1"/>
                </a:solidFill>
              </a:rPr>
              <a:t>We acknowledge </a:t>
            </a:r>
            <a:r>
              <a:rPr b="1" lang="en-US" sz="1600">
                <a:solidFill>
                  <a:schemeClr val="dk1"/>
                </a:solidFill>
              </a:rPr>
              <a:t>multicollinearity</a:t>
            </a:r>
            <a:r>
              <a:rPr lang="en-US" sz="1600">
                <a:solidFill>
                  <a:schemeClr val="dk1"/>
                </a:solidFill>
              </a:rPr>
              <a:t>, but since the goal is forecasting, the model can still be effective even with correlated predictors.</a:t>
            </a:r>
            <a:endParaRPr sz="1600">
              <a:solidFill>
                <a:schemeClr val="dk1"/>
              </a:solidFill>
            </a:endParaRPr>
          </a:p>
        </p:txBody>
      </p:sp>
      <p:sp>
        <p:nvSpPr>
          <p:cNvPr id="361" name="Google Shape;361;g3a5fd78da0b_2_0"/>
          <p:cNvSpPr txBox="1"/>
          <p:nvPr>
            <p:ph idx="4" type="body"/>
          </p:nvPr>
        </p:nvSpPr>
        <p:spPr>
          <a:xfrm>
            <a:off x="4729375" y="1491831"/>
            <a:ext cx="3361200" cy="566400"/>
          </a:xfrm>
          <a:prstGeom prst="rect">
            <a:avLst/>
          </a:prstGeom>
        </p:spPr>
        <p:txBody>
          <a:bodyPr anchorCtr="0" anchor="ctr" bIns="45700" lIns="0" spcFirstLastPara="1" rIns="0" wrap="square" tIns="45700">
            <a:normAutofit/>
          </a:bodyPr>
          <a:lstStyle/>
          <a:p>
            <a:pPr indent="0" lvl="0" marL="0" rtl="0" algn="l">
              <a:lnSpc>
                <a:spcPct val="115000"/>
              </a:lnSpc>
              <a:spcBef>
                <a:spcPts val="1000"/>
              </a:spcBef>
              <a:spcAft>
                <a:spcPts val="0"/>
              </a:spcAft>
              <a:buNone/>
            </a:pPr>
            <a:r>
              <a:rPr lang="en-US"/>
              <a:t>Why we repeated variables</a:t>
            </a:r>
            <a:endParaRPr/>
          </a:p>
        </p:txBody>
      </p:sp>
      <p:sp>
        <p:nvSpPr>
          <p:cNvPr id="362" name="Google Shape;362;g3a5fd78da0b_2_0"/>
          <p:cNvSpPr txBox="1"/>
          <p:nvPr>
            <p:ph idx="12" type="sldNum"/>
          </p:nvPr>
        </p:nvSpPr>
        <p:spPr>
          <a:xfrm>
            <a:off x="8515349" y="6456764"/>
            <a:ext cx="4605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800"/>
              <a:buFont typeface="Helvetica Neue"/>
              <a:buNone/>
            </a:pPr>
            <a:fld id="{00000000-1234-1234-1234-123412341234}" type="slidenum">
              <a:rPr lang="en-US"/>
              <a:t>‹#›</a:t>
            </a:fld>
            <a:endParaRPr/>
          </a:p>
        </p:txBody>
      </p:sp>
      <p:sp>
        <p:nvSpPr>
          <p:cNvPr id="363" name="Google Shape;363;g3a5fd78da0b_2_0"/>
          <p:cNvSpPr txBox="1"/>
          <p:nvPr>
            <p:ph type="title"/>
          </p:nvPr>
        </p:nvSpPr>
        <p:spPr>
          <a:xfrm>
            <a:off x="628650" y="6477"/>
            <a:ext cx="7886700" cy="13257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US"/>
              <a:t>Model Equation</a:t>
            </a:r>
            <a:endParaRPr/>
          </a:p>
        </p:txBody>
      </p:sp>
      <p:pic>
        <p:nvPicPr>
          <p:cNvPr id="364" name="Google Shape;364;g3a5fd78da0b_2_0"/>
          <p:cNvPicPr preferRelativeResize="0"/>
          <p:nvPr/>
        </p:nvPicPr>
        <p:blipFill rotWithShape="1">
          <a:blip r:embed="rId3">
            <a:alphaModFix/>
          </a:blip>
          <a:srcRect b="1903" l="978" r="16081" t="0"/>
          <a:stretch/>
        </p:blipFill>
        <p:spPr>
          <a:xfrm>
            <a:off x="491900" y="2058224"/>
            <a:ext cx="3931901" cy="34093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ada265f958_0_36"/>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Forecast for December 2025</a:t>
            </a:r>
            <a:endParaRPr/>
          </a:p>
        </p:txBody>
      </p:sp>
      <p:sp>
        <p:nvSpPr>
          <p:cNvPr id="370" name="Google Shape;370;g3ada265f958_0_36"/>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sp>
        <p:nvSpPr>
          <p:cNvPr id="371" name="Google Shape;371;g3ada265f958_0_36"/>
          <p:cNvSpPr txBox="1"/>
          <p:nvPr>
            <p:ph idx="1" type="body"/>
          </p:nvPr>
        </p:nvSpPr>
        <p:spPr>
          <a:xfrm>
            <a:off x="628650" y="1608000"/>
            <a:ext cx="8103300" cy="4637700"/>
          </a:xfrm>
          <a:prstGeom prst="rect">
            <a:avLst/>
          </a:prstGeom>
          <a:noFill/>
          <a:ln>
            <a:noFill/>
          </a:ln>
        </p:spPr>
        <p:txBody>
          <a:bodyPr anchorCtr="0" anchor="t" bIns="45700" lIns="0" spcFirstLastPara="1" rIns="0" wrap="square" tIns="45700">
            <a:normAutofit/>
          </a:bodyPr>
          <a:lstStyle/>
          <a:p>
            <a:pPr indent="-330200" lvl="0" marL="342900" rtl="0" algn="l">
              <a:lnSpc>
                <a:spcPct val="115000"/>
              </a:lnSpc>
              <a:spcBef>
                <a:spcPts val="0"/>
              </a:spcBef>
              <a:spcAft>
                <a:spcPts val="0"/>
              </a:spcAft>
              <a:buClr>
                <a:schemeClr val="dk1"/>
              </a:buClr>
              <a:buSzPts val="2200"/>
              <a:buChar char="•"/>
            </a:pPr>
            <a:r>
              <a:rPr lang="en-US" sz="2200">
                <a:solidFill>
                  <a:schemeClr val="dk1"/>
                </a:solidFill>
              </a:rPr>
              <a:t>Using the final model, we applied the </a:t>
            </a:r>
            <a:r>
              <a:rPr b="1" lang="en-US" sz="2200">
                <a:solidFill>
                  <a:schemeClr val="dk1"/>
                </a:solidFill>
              </a:rPr>
              <a:t>most recent </a:t>
            </a:r>
            <a:r>
              <a:rPr lang="en-US" sz="2200">
                <a:solidFill>
                  <a:schemeClr val="dk1"/>
                </a:solidFill>
              </a:rPr>
              <a:t>macroeconomic data (as of Nov 2025) to forecast the December 2025 U-3 unemployment rate</a:t>
            </a:r>
            <a:endParaRPr sz="2200">
              <a:solidFill>
                <a:schemeClr val="dk1"/>
              </a:solidFill>
            </a:endParaRPr>
          </a:p>
          <a:p>
            <a:pPr indent="-330200" lvl="0" marL="342900" rtl="0" algn="l">
              <a:lnSpc>
                <a:spcPct val="115000"/>
              </a:lnSpc>
              <a:spcBef>
                <a:spcPts val="1000"/>
              </a:spcBef>
              <a:spcAft>
                <a:spcPts val="0"/>
              </a:spcAft>
              <a:buClr>
                <a:schemeClr val="dk1"/>
              </a:buClr>
              <a:buSzPts val="2200"/>
              <a:buChar char="•"/>
            </a:pPr>
            <a:r>
              <a:rPr lang="en-US" sz="2200">
                <a:solidFill>
                  <a:schemeClr val="dk1"/>
                </a:solidFill>
              </a:rPr>
              <a:t>The model forecasts a U-3 unemployment rate as </a:t>
            </a:r>
            <a:r>
              <a:rPr b="1" lang="en-US" sz="2200">
                <a:solidFill>
                  <a:schemeClr val="dk1"/>
                </a:solidFill>
              </a:rPr>
              <a:t>4.23%</a:t>
            </a:r>
            <a:r>
              <a:rPr lang="en-US" sz="2200">
                <a:solidFill>
                  <a:schemeClr val="dk1"/>
                </a:solidFill>
              </a:rPr>
              <a:t>, which aligns with current labor-market cooling trends.</a:t>
            </a:r>
            <a:endParaRPr sz="2200">
              <a:solidFill>
                <a:schemeClr val="dk1"/>
              </a:solidFill>
            </a:endParaRPr>
          </a:p>
          <a:p>
            <a:pPr indent="-330200" lvl="0" marL="342900" rtl="0" algn="l">
              <a:lnSpc>
                <a:spcPct val="115000"/>
              </a:lnSpc>
              <a:spcBef>
                <a:spcPts val="1000"/>
              </a:spcBef>
              <a:spcAft>
                <a:spcPts val="0"/>
              </a:spcAft>
              <a:buClr>
                <a:schemeClr val="dk1"/>
              </a:buClr>
              <a:buSzPts val="2200"/>
              <a:buChar char="•"/>
            </a:pPr>
            <a:r>
              <a:rPr lang="en-US" sz="2200">
                <a:solidFill>
                  <a:schemeClr val="dk1"/>
                </a:solidFill>
              </a:rPr>
              <a:t>The forecast provides a </a:t>
            </a:r>
            <a:r>
              <a:rPr b="1" lang="en-US" sz="2200">
                <a:solidFill>
                  <a:schemeClr val="dk1"/>
                </a:solidFill>
              </a:rPr>
              <a:t>quantitative reference point</a:t>
            </a:r>
            <a:r>
              <a:rPr lang="en-US" sz="2200">
                <a:solidFill>
                  <a:schemeClr val="dk1"/>
                </a:solidFill>
              </a:rPr>
              <a:t> for interpreting the December labor release</a:t>
            </a:r>
            <a:endParaRPr sz="2200">
              <a:solidFill>
                <a:schemeClr val="dk1"/>
              </a:solidFill>
            </a:endParaRPr>
          </a:p>
          <a:p>
            <a:pPr indent="-330200" lvl="0" marL="342900" rtl="0" algn="l">
              <a:lnSpc>
                <a:spcPct val="115000"/>
              </a:lnSpc>
              <a:spcBef>
                <a:spcPts val="1000"/>
              </a:spcBef>
              <a:spcAft>
                <a:spcPts val="1000"/>
              </a:spcAft>
              <a:buClr>
                <a:schemeClr val="dk1"/>
              </a:buClr>
              <a:buSzPts val="2200"/>
              <a:buChar char="•"/>
            </a:pPr>
            <a:r>
              <a:rPr lang="en-US" sz="2200">
                <a:solidFill>
                  <a:schemeClr val="dk1"/>
                </a:solidFill>
              </a:rPr>
              <a:t>The prediction reflects </a:t>
            </a:r>
            <a:r>
              <a:rPr b="1" lang="en-US" sz="2200">
                <a:solidFill>
                  <a:schemeClr val="dk1"/>
                </a:solidFill>
              </a:rPr>
              <a:t>combined effects</a:t>
            </a:r>
            <a:r>
              <a:rPr lang="en-US" sz="2200">
                <a:solidFill>
                  <a:schemeClr val="dk1"/>
                </a:solidFill>
              </a:rPr>
              <a:t> of layoffs, payroll levels, and smoothed unemployment trends captured in the model</a:t>
            </a:r>
            <a:endParaRPr sz="2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adfee3e6af_0_0"/>
          <p:cNvSpPr txBox="1"/>
          <p:nvPr>
            <p:ph idx="12" type="sldNum"/>
          </p:nvPr>
        </p:nvSpPr>
        <p:spPr>
          <a:xfrm>
            <a:off x="8515349" y="6456764"/>
            <a:ext cx="4605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800"/>
              <a:buFont typeface="Helvetica Neue"/>
              <a:buNone/>
            </a:pPr>
            <a:fld id="{00000000-1234-1234-1234-123412341234}" type="slidenum">
              <a:rPr lang="en-US"/>
              <a:t>‹#›</a:t>
            </a:fld>
            <a:endParaRPr/>
          </a:p>
        </p:txBody>
      </p:sp>
      <p:sp>
        <p:nvSpPr>
          <p:cNvPr id="378" name="Google Shape;378;g3adfee3e6af_0_0"/>
          <p:cNvSpPr txBox="1"/>
          <p:nvPr>
            <p:ph type="title"/>
          </p:nvPr>
        </p:nvSpPr>
        <p:spPr>
          <a:xfrm>
            <a:off x="628650" y="6477"/>
            <a:ext cx="7886700" cy="13257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US"/>
              <a:t>Model Evaluation: Key Metrics</a:t>
            </a:r>
            <a:endParaRPr/>
          </a:p>
        </p:txBody>
      </p:sp>
      <p:graphicFrame>
        <p:nvGraphicFramePr>
          <p:cNvPr id="379" name="Google Shape;379;g3adfee3e6af_0_0"/>
          <p:cNvGraphicFramePr/>
          <p:nvPr/>
        </p:nvGraphicFramePr>
        <p:xfrm>
          <a:off x="570325" y="1495425"/>
          <a:ext cx="3000000" cy="3000000"/>
        </p:xfrm>
        <a:graphic>
          <a:graphicData uri="http://schemas.openxmlformats.org/drawingml/2006/table">
            <a:tbl>
              <a:tblPr>
                <a:noFill/>
                <a:tableStyleId>{BC353916-5367-4826-916C-976175D6CF8C}</a:tableStyleId>
              </a:tblPr>
              <a:tblGrid>
                <a:gridCol w="2511625"/>
                <a:gridCol w="1734100"/>
                <a:gridCol w="4018125"/>
              </a:tblGrid>
              <a:tr h="529750">
                <a:tc>
                  <a:txBody>
                    <a:bodyPr/>
                    <a:lstStyle/>
                    <a:p>
                      <a:pPr indent="0" lvl="0" marL="0" rtl="0" algn="ctr">
                        <a:spcBef>
                          <a:spcPts val="0"/>
                        </a:spcBef>
                        <a:spcAft>
                          <a:spcPts val="0"/>
                        </a:spcAft>
                        <a:buNone/>
                      </a:pPr>
                      <a:r>
                        <a:rPr b="1" lang="en-US">
                          <a:solidFill>
                            <a:schemeClr val="lt1"/>
                          </a:solidFill>
                        </a:rPr>
                        <a:t>Metric</a:t>
                      </a:r>
                      <a:endParaRPr b="1">
                        <a:solidFill>
                          <a:schemeClr val="lt1"/>
                        </a:solidFill>
                      </a:endParaRPr>
                    </a:p>
                  </a:txBody>
                  <a:tcPr marT="91425" marB="91425" marR="91425" marL="91425" anchor="ctr">
                    <a:solidFill>
                      <a:schemeClr val="accent1"/>
                    </a:solidFill>
                  </a:tcPr>
                </a:tc>
                <a:tc>
                  <a:txBody>
                    <a:bodyPr/>
                    <a:lstStyle/>
                    <a:p>
                      <a:pPr indent="0" lvl="0" marL="0" rtl="0" algn="ctr">
                        <a:spcBef>
                          <a:spcPts val="0"/>
                        </a:spcBef>
                        <a:spcAft>
                          <a:spcPts val="0"/>
                        </a:spcAft>
                        <a:buNone/>
                      </a:pPr>
                      <a:r>
                        <a:rPr b="1" lang="en-US">
                          <a:solidFill>
                            <a:schemeClr val="lt1"/>
                          </a:solidFill>
                        </a:rPr>
                        <a:t>Value</a:t>
                      </a:r>
                      <a:endParaRPr b="1">
                        <a:solidFill>
                          <a:schemeClr val="lt1"/>
                        </a:solidFill>
                      </a:endParaRPr>
                    </a:p>
                  </a:txBody>
                  <a:tcPr marT="91425" marB="91425" marR="91425" marL="91425" anchor="ctr">
                    <a:solidFill>
                      <a:schemeClr val="accent1"/>
                    </a:solidFill>
                  </a:tcPr>
                </a:tc>
                <a:tc>
                  <a:txBody>
                    <a:bodyPr/>
                    <a:lstStyle/>
                    <a:p>
                      <a:pPr indent="0" lvl="0" marL="0" rtl="0" algn="ctr">
                        <a:spcBef>
                          <a:spcPts val="0"/>
                        </a:spcBef>
                        <a:spcAft>
                          <a:spcPts val="0"/>
                        </a:spcAft>
                        <a:buNone/>
                      </a:pPr>
                      <a:r>
                        <a:rPr b="1" lang="en-US">
                          <a:solidFill>
                            <a:schemeClr val="lt1"/>
                          </a:solidFill>
                        </a:rPr>
                        <a:t>What does this mean?</a:t>
                      </a:r>
                      <a:endParaRPr b="1">
                        <a:solidFill>
                          <a:schemeClr val="lt1"/>
                        </a:solidFill>
                      </a:endParaRPr>
                    </a:p>
                  </a:txBody>
                  <a:tcPr marT="91425" marB="91425" marR="91425" marL="91425" anchor="ctr">
                    <a:solidFill>
                      <a:schemeClr val="accent1"/>
                    </a:solidFill>
                  </a:tcPr>
                </a:tc>
              </a:tr>
              <a:tr h="743100">
                <a:tc>
                  <a:txBody>
                    <a:bodyPr/>
                    <a:lstStyle/>
                    <a:p>
                      <a:pPr indent="0" lvl="0" marL="0" rtl="0" algn="ctr">
                        <a:spcBef>
                          <a:spcPts val="0"/>
                        </a:spcBef>
                        <a:spcAft>
                          <a:spcPts val="0"/>
                        </a:spcAft>
                        <a:buNone/>
                      </a:pPr>
                      <a:r>
                        <a:rPr b="1" lang="en-US"/>
                        <a:t>Residual Variance</a:t>
                      </a:r>
                      <a:endParaRPr b="1"/>
                    </a:p>
                  </a:txBody>
                  <a:tcPr marT="91425" marB="91425" marR="91425" marL="91425" anchor="ctr"/>
                </a:tc>
                <a:tc>
                  <a:txBody>
                    <a:bodyPr/>
                    <a:lstStyle/>
                    <a:p>
                      <a:pPr indent="0" lvl="0" marL="0" rtl="0" algn="ctr">
                        <a:spcBef>
                          <a:spcPts val="0"/>
                        </a:spcBef>
                        <a:spcAft>
                          <a:spcPts val="0"/>
                        </a:spcAft>
                        <a:buNone/>
                      </a:pPr>
                      <a:r>
                        <a:rPr lang="en-US"/>
                        <a:t>0.0093</a:t>
                      </a:r>
                      <a:endParaRPr/>
                    </a:p>
                  </a:txBody>
                  <a:tcPr marT="91425" marB="91425" marR="91425" marL="91425" anchor="ctr"/>
                </a:tc>
                <a:tc>
                  <a:txBody>
                    <a:bodyPr/>
                    <a:lstStyle/>
                    <a:p>
                      <a:pPr indent="0" lvl="0" marL="0" rtl="0" algn="ctr">
                        <a:spcBef>
                          <a:spcPts val="0"/>
                        </a:spcBef>
                        <a:spcAft>
                          <a:spcPts val="0"/>
                        </a:spcAft>
                        <a:buNone/>
                      </a:pPr>
                      <a:r>
                        <a:rPr lang="en-US"/>
                        <a:t>Measures how much </a:t>
                      </a:r>
                      <a:r>
                        <a:rPr b="1" lang="en-US"/>
                        <a:t>predictions differ from actual values</a:t>
                      </a:r>
                      <a:r>
                        <a:rPr lang="en-US"/>
                        <a:t>. Small number like 0.0093 means predictions are very close to real data</a:t>
                      </a:r>
                      <a:endParaRPr/>
                    </a:p>
                  </a:txBody>
                  <a:tcPr marT="91425" marB="91425" marR="91425" marL="91425" anchor="ctr"/>
                </a:tc>
              </a:tr>
              <a:tr h="743100">
                <a:tc>
                  <a:txBody>
                    <a:bodyPr/>
                    <a:lstStyle/>
                    <a:p>
                      <a:pPr indent="0" lvl="0" marL="0" rtl="0" algn="ctr">
                        <a:spcBef>
                          <a:spcPts val="0"/>
                        </a:spcBef>
                        <a:spcAft>
                          <a:spcPts val="0"/>
                        </a:spcAft>
                        <a:buNone/>
                      </a:pPr>
                      <a:r>
                        <a:rPr b="1" lang="en-US"/>
                        <a:t>Mean Absolute Error</a:t>
                      </a:r>
                      <a:endParaRPr b="1"/>
                    </a:p>
                  </a:txBody>
                  <a:tcPr marT="91425" marB="91425" marR="91425" marL="91425" anchor="ctr"/>
                </a:tc>
                <a:tc>
                  <a:txBody>
                    <a:bodyPr/>
                    <a:lstStyle/>
                    <a:p>
                      <a:pPr indent="0" lvl="0" marL="0" rtl="0" algn="ctr">
                        <a:spcBef>
                          <a:spcPts val="0"/>
                        </a:spcBef>
                        <a:spcAft>
                          <a:spcPts val="0"/>
                        </a:spcAft>
                        <a:buNone/>
                      </a:pPr>
                      <a:r>
                        <a:rPr lang="en-US"/>
                        <a:t>0.0711</a:t>
                      </a:r>
                      <a:endParaRPr/>
                    </a:p>
                  </a:txBody>
                  <a:tcPr marT="91425" marB="91425" marR="91425" marL="91425" anchor="ctr"/>
                </a:tc>
                <a:tc>
                  <a:txBody>
                    <a:bodyPr/>
                    <a:lstStyle/>
                    <a:p>
                      <a:pPr indent="0" lvl="0" marL="0" rtl="0" algn="ctr">
                        <a:spcBef>
                          <a:spcPts val="0"/>
                        </a:spcBef>
                        <a:spcAft>
                          <a:spcPts val="0"/>
                        </a:spcAft>
                        <a:buNone/>
                      </a:pPr>
                      <a:r>
                        <a:rPr lang="en-US"/>
                        <a:t>M</a:t>
                      </a:r>
                      <a:r>
                        <a:rPr lang="en-US"/>
                        <a:t>odel’s predicted U-3 rate differs from the actual rate by 0.0711, demonstrating </a:t>
                      </a:r>
                      <a:r>
                        <a:rPr b="1" lang="en-US"/>
                        <a:t>high accuracy</a:t>
                      </a:r>
                      <a:endParaRPr b="1"/>
                    </a:p>
                  </a:txBody>
                  <a:tcPr marT="91425" marB="91425" marR="91425" marL="91425" anchor="ctr"/>
                </a:tc>
              </a:tr>
              <a:tr h="743100">
                <a:tc>
                  <a:txBody>
                    <a:bodyPr/>
                    <a:lstStyle/>
                    <a:p>
                      <a:pPr indent="0" lvl="0" marL="0" rtl="0" algn="ctr">
                        <a:spcBef>
                          <a:spcPts val="0"/>
                        </a:spcBef>
                        <a:spcAft>
                          <a:spcPts val="0"/>
                        </a:spcAft>
                        <a:buNone/>
                      </a:pPr>
                      <a:r>
                        <a:rPr b="1" lang="en-US"/>
                        <a:t>Root Mean Square Error</a:t>
                      </a:r>
                      <a:endParaRPr b="1"/>
                    </a:p>
                  </a:txBody>
                  <a:tcPr marT="91425" marB="91425" marR="91425" marL="91425" anchor="ctr"/>
                </a:tc>
                <a:tc>
                  <a:txBody>
                    <a:bodyPr/>
                    <a:lstStyle/>
                    <a:p>
                      <a:pPr indent="0" lvl="0" marL="0" rtl="0" algn="ctr">
                        <a:spcBef>
                          <a:spcPts val="0"/>
                        </a:spcBef>
                        <a:spcAft>
                          <a:spcPts val="0"/>
                        </a:spcAft>
                        <a:buNone/>
                      </a:pPr>
                      <a:r>
                        <a:rPr lang="en-US"/>
                        <a:t>0.0945</a:t>
                      </a:r>
                      <a:endParaRPr/>
                    </a:p>
                  </a:txBody>
                  <a:tcPr marT="91425" marB="91425" marR="91425" marL="91425" anchor="ctr"/>
                </a:tc>
                <a:tc>
                  <a:txBody>
                    <a:bodyPr/>
                    <a:lstStyle/>
                    <a:p>
                      <a:pPr indent="0" lvl="0" marL="0" rtl="0" algn="ctr">
                        <a:spcBef>
                          <a:spcPts val="0"/>
                        </a:spcBef>
                        <a:spcAft>
                          <a:spcPts val="0"/>
                        </a:spcAft>
                        <a:buNone/>
                      </a:pPr>
                      <a:r>
                        <a:rPr lang="en-US"/>
                        <a:t>G</a:t>
                      </a:r>
                      <a:r>
                        <a:rPr lang="en-US"/>
                        <a:t>ives </a:t>
                      </a:r>
                      <a:r>
                        <a:rPr b="1" lang="en-US"/>
                        <a:t>more weight to larger</a:t>
                      </a:r>
                      <a:r>
                        <a:rPr lang="en-US"/>
                        <a:t> errors. Low value shows model </a:t>
                      </a:r>
                      <a:r>
                        <a:rPr lang="en-US"/>
                        <a:t>rarely makes large prediction errors</a:t>
                      </a:r>
                      <a:endParaRPr/>
                    </a:p>
                  </a:txBody>
                  <a:tcPr marT="91425" marB="91425" marR="91425" marL="91425" anchor="ctr"/>
                </a:tc>
              </a:tr>
              <a:tr h="743100">
                <a:tc>
                  <a:txBody>
                    <a:bodyPr/>
                    <a:lstStyle/>
                    <a:p>
                      <a:pPr indent="0" lvl="0" marL="0" rtl="0" algn="ctr">
                        <a:spcBef>
                          <a:spcPts val="0"/>
                        </a:spcBef>
                        <a:spcAft>
                          <a:spcPts val="0"/>
                        </a:spcAft>
                        <a:buNone/>
                      </a:pPr>
                      <a:r>
                        <a:rPr b="1" lang="en-US"/>
                        <a:t>R-squared</a:t>
                      </a:r>
                      <a:endParaRPr b="1"/>
                    </a:p>
                  </a:txBody>
                  <a:tcPr marT="91425" marB="91425" marR="91425" marL="91425" anchor="ctr"/>
                </a:tc>
                <a:tc>
                  <a:txBody>
                    <a:bodyPr/>
                    <a:lstStyle/>
                    <a:p>
                      <a:pPr indent="0" lvl="0" marL="0" rtl="0" algn="ctr">
                        <a:spcBef>
                          <a:spcPts val="0"/>
                        </a:spcBef>
                        <a:spcAft>
                          <a:spcPts val="0"/>
                        </a:spcAft>
                        <a:buNone/>
                      </a:pPr>
                      <a:r>
                        <a:rPr lang="en-US"/>
                        <a:t>0.9977</a:t>
                      </a:r>
                      <a:endParaRPr/>
                    </a:p>
                  </a:txBody>
                  <a:tcPr marT="91425" marB="91425" marR="91425" marL="91425" anchor="ctr"/>
                </a:tc>
                <a:tc>
                  <a:txBody>
                    <a:bodyPr/>
                    <a:lstStyle/>
                    <a:p>
                      <a:pPr indent="0" lvl="0" marL="0" rtl="0" algn="ctr">
                        <a:spcBef>
                          <a:spcPts val="0"/>
                        </a:spcBef>
                        <a:spcAft>
                          <a:spcPts val="0"/>
                        </a:spcAft>
                        <a:buNone/>
                      </a:pPr>
                      <a:r>
                        <a:rPr lang="en-US"/>
                        <a:t>M</a:t>
                      </a:r>
                      <a:r>
                        <a:rPr lang="en-US"/>
                        <a:t>odel explains 99.77% of the</a:t>
                      </a:r>
                      <a:r>
                        <a:rPr b="1" lang="en-US"/>
                        <a:t> variability in U-3 </a:t>
                      </a:r>
                      <a:r>
                        <a:rPr lang="en-US"/>
                        <a:t>unemployment rates, indicating an excellent fit</a:t>
                      </a:r>
                      <a:endParaRPr/>
                    </a:p>
                  </a:txBody>
                  <a:tcPr marT="91425" marB="91425" marR="91425" marL="91425" anchor="ctr"/>
                </a:tc>
              </a:tr>
              <a:tr h="743100">
                <a:tc>
                  <a:txBody>
                    <a:bodyPr/>
                    <a:lstStyle/>
                    <a:p>
                      <a:pPr indent="0" lvl="0" marL="0" rtl="0" algn="ctr">
                        <a:spcBef>
                          <a:spcPts val="0"/>
                        </a:spcBef>
                        <a:spcAft>
                          <a:spcPts val="0"/>
                        </a:spcAft>
                        <a:buNone/>
                      </a:pPr>
                      <a:r>
                        <a:rPr b="1" lang="en-US"/>
                        <a:t>Adjusted R-squared</a:t>
                      </a:r>
                      <a:endParaRPr b="1"/>
                    </a:p>
                  </a:txBody>
                  <a:tcPr marT="91425" marB="91425" marR="91425" marL="91425" anchor="ctr"/>
                </a:tc>
                <a:tc>
                  <a:txBody>
                    <a:bodyPr/>
                    <a:lstStyle/>
                    <a:p>
                      <a:pPr indent="0" lvl="0" marL="0" rtl="0" algn="ctr">
                        <a:spcBef>
                          <a:spcPts val="0"/>
                        </a:spcBef>
                        <a:spcAft>
                          <a:spcPts val="0"/>
                        </a:spcAft>
                        <a:buNone/>
                      </a:pPr>
                      <a:r>
                        <a:rPr lang="en-US"/>
                        <a:t>0.9976</a:t>
                      </a:r>
                      <a:endParaRPr/>
                    </a:p>
                  </a:txBody>
                  <a:tcPr marT="91425" marB="91425" marR="91425" marL="91425" anchor="ctr"/>
                </a:tc>
                <a:tc>
                  <a:txBody>
                    <a:bodyPr/>
                    <a:lstStyle/>
                    <a:p>
                      <a:pPr indent="0" lvl="0" marL="0" rtl="0" algn="ctr">
                        <a:spcBef>
                          <a:spcPts val="0"/>
                        </a:spcBef>
                        <a:spcAft>
                          <a:spcPts val="0"/>
                        </a:spcAft>
                        <a:buNone/>
                      </a:pPr>
                      <a:r>
                        <a:rPr lang="en-US"/>
                        <a:t>Adjusted for </a:t>
                      </a:r>
                      <a:r>
                        <a:rPr b="1" lang="en-US"/>
                        <a:t>number of predictors</a:t>
                      </a:r>
                      <a:r>
                        <a:rPr lang="en-US"/>
                        <a:t>, model still captures nearly all variation in U-3 rates, confirming reliability</a:t>
                      </a:r>
                      <a:endParaRPr/>
                    </a:p>
                  </a:txBody>
                  <a:tcPr marT="91425" marB="91425" marR="91425" marL="91425"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ae2c5b36e6_0_6"/>
          <p:cNvSpPr txBox="1"/>
          <p:nvPr>
            <p:ph idx="1" type="body"/>
          </p:nvPr>
        </p:nvSpPr>
        <p:spPr>
          <a:xfrm>
            <a:off x="5062125" y="1636150"/>
            <a:ext cx="3829500" cy="4762200"/>
          </a:xfrm>
          <a:prstGeom prst="rect">
            <a:avLst/>
          </a:prstGeom>
        </p:spPr>
        <p:txBody>
          <a:bodyPr anchorCtr="0" anchor="t" bIns="45700" lIns="0" spcFirstLastPara="1" rIns="0" wrap="square" tIns="45700">
            <a:normAutofit/>
          </a:bodyPr>
          <a:lstStyle/>
          <a:p>
            <a:pPr indent="-336550" lvl="0" marL="457200" rtl="0" algn="l">
              <a:lnSpc>
                <a:spcPct val="100000"/>
              </a:lnSpc>
              <a:spcBef>
                <a:spcPts val="1000"/>
              </a:spcBef>
              <a:spcAft>
                <a:spcPts val="0"/>
              </a:spcAft>
              <a:buClr>
                <a:schemeClr val="dk1"/>
              </a:buClr>
              <a:buSzPts val="1700"/>
              <a:buChar char="•"/>
            </a:pPr>
            <a:r>
              <a:rPr lang="en-US" sz="1700">
                <a:solidFill>
                  <a:schemeClr val="dk1"/>
                </a:solidFill>
              </a:rPr>
              <a:t>Residuals mostly </a:t>
            </a:r>
            <a:r>
              <a:rPr b="1" lang="en-US" sz="1700">
                <a:solidFill>
                  <a:schemeClr val="dk1"/>
                </a:solidFill>
              </a:rPr>
              <a:t>scattered around zero</a:t>
            </a:r>
            <a:r>
              <a:rPr lang="en-US" sz="1700">
                <a:solidFill>
                  <a:schemeClr val="dk1"/>
                </a:solidFill>
              </a:rPr>
              <a:t>, indicating the model fits the data well</a:t>
            </a:r>
            <a:endParaRPr sz="1700">
              <a:solidFill>
                <a:schemeClr val="dk1"/>
              </a:solidFill>
            </a:endParaRPr>
          </a:p>
          <a:p>
            <a:pPr indent="-336550" lvl="0" marL="457200" rtl="0" algn="l">
              <a:lnSpc>
                <a:spcPct val="100000"/>
              </a:lnSpc>
              <a:spcBef>
                <a:spcPts val="1000"/>
              </a:spcBef>
              <a:spcAft>
                <a:spcPts val="0"/>
              </a:spcAft>
              <a:buClr>
                <a:schemeClr val="dk1"/>
              </a:buClr>
              <a:buSzPts val="1700"/>
              <a:buChar char="•"/>
            </a:pPr>
            <a:r>
              <a:rPr lang="en-US" sz="1700">
                <a:solidFill>
                  <a:schemeClr val="dk1"/>
                </a:solidFill>
              </a:rPr>
              <a:t>Spread of residuals is fairly consistent, with just a little more </a:t>
            </a:r>
            <a:r>
              <a:rPr b="1" lang="en-US" sz="1700">
                <a:solidFill>
                  <a:schemeClr val="dk1"/>
                </a:solidFill>
              </a:rPr>
              <a:t>variation at higher </a:t>
            </a:r>
            <a:r>
              <a:rPr lang="en-US" sz="1700">
                <a:solidFill>
                  <a:schemeClr val="dk1"/>
                </a:solidFill>
              </a:rPr>
              <a:t>predicted values</a:t>
            </a:r>
            <a:endParaRPr sz="1700">
              <a:solidFill>
                <a:schemeClr val="dk1"/>
              </a:solidFill>
            </a:endParaRPr>
          </a:p>
          <a:p>
            <a:pPr indent="-336550" lvl="0" marL="457200" rtl="0" algn="l">
              <a:lnSpc>
                <a:spcPct val="100000"/>
              </a:lnSpc>
              <a:spcBef>
                <a:spcPts val="1000"/>
              </a:spcBef>
              <a:spcAft>
                <a:spcPts val="0"/>
              </a:spcAft>
              <a:buClr>
                <a:schemeClr val="dk1"/>
              </a:buClr>
              <a:buSzPts val="1700"/>
              <a:buChar char="•"/>
            </a:pPr>
            <a:r>
              <a:rPr lang="en-US" sz="1700">
                <a:solidFill>
                  <a:schemeClr val="dk1"/>
                </a:solidFill>
              </a:rPr>
              <a:t>Few points are farther from zero, indicating </a:t>
            </a:r>
            <a:r>
              <a:rPr b="1" lang="en-US" sz="1700">
                <a:solidFill>
                  <a:schemeClr val="dk1"/>
                </a:solidFill>
              </a:rPr>
              <a:t>occasional larger</a:t>
            </a:r>
            <a:r>
              <a:rPr lang="en-US" sz="1700">
                <a:solidFill>
                  <a:schemeClr val="dk1"/>
                </a:solidFill>
              </a:rPr>
              <a:t> errors</a:t>
            </a:r>
            <a:endParaRPr sz="1700">
              <a:solidFill>
                <a:schemeClr val="dk1"/>
              </a:solidFill>
            </a:endParaRPr>
          </a:p>
          <a:p>
            <a:pPr indent="-336550" lvl="0" marL="457200" rtl="0" algn="l">
              <a:lnSpc>
                <a:spcPct val="100000"/>
              </a:lnSpc>
              <a:spcBef>
                <a:spcPts val="1000"/>
              </a:spcBef>
              <a:spcAft>
                <a:spcPts val="1000"/>
              </a:spcAft>
              <a:buClr>
                <a:schemeClr val="dk1"/>
              </a:buClr>
              <a:buSzPts val="1700"/>
              <a:buChar char="•"/>
            </a:pPr>
            <a:r>
              <a:rPr lang="en-US" sz="1700">
                <a:solidFill>
                  <a:schemeClr val="dk1"/>
                </a:solidFill>
              </a:rPr>
              <a:t>Generally</a:t>
            </a:r>
            <a:r>
              <a:rPr lang="en-US" sz="1700">
                <a:solidFill>
                  <a:schemeClr val="dk1"/>
                </a:solidFill>
              </a:rPr>
              <a:t>, </a:t>
            </a:r>
            <a:r>
              <a:rPr b="1" lang="en-US" sz="1700">
                <a:solidFill>
                  <a:schemeClr val="dk1"/>
                </a:solidFill>
              </a:rPr>
              <a:t>residuals are small</a:t>
            </a:r>
            <a:r>
              <a:rPr lang="en-US" sz="1700">
                <a:solidFill>
                  <a:schemeClr val="dk1"/>
                </a:solidFill>
              </a:rPr>
              <a:t>, showing that model predicts the unemployment rate very accurately</a:t>
            </a:r>
            <a:endParaRPr sz="700">
              <a:solidFill>
                <a:srgbClr val="E3E3E3"/>
              </a:solidFill>
              <a:highlight>
                <a:srgbClr val="282A2C"/>
              </a:highlight>
              <a:latin typeface="Arial"/>
              <a:ea typeface="Arial"/>
              <a:cs typeface="Arial"/>
              <a:sym typeface="Arial"/>
            </a:endParaRPr>
          </a:p>
        </p:txBody>
      </p:sp>
      <p:sp>
        <p:nvSpPr>
          <p:cNvPr id="386" name="Google Shape;386;g3ae2c5b36e6_0_6"/>
          <p:cNvSpPr txBox="1"/>
          <p:nvPr>
            <p:ph idx="12" type="sldNum"/>
          </p:nvPr>
        </p:nvSpPr>
        <p:spPr>
          <a:xfrm>
            <a:off x="8515349" y="6456764"/>
            <a:ext cx="4605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800"/>
              <a:buFont typeface="Helvetica Neue"/>
              <a:buNone/>
            </a:pPr>
            <a:fld id="{00000000-1234-1234-1234-123412341234}" type="slidenum">
              <a:rPr lang="en-US"/>
              <a:t>‹#›</a:t>
            </a:fld>
            <a:endParaRPr/>
          </a:p>
        </p:txBody>
      </p:sp>
      <p:sp>
        <p:nvSpPr>
          <p:cNvPr id="387" name="Google Shape;387;g3ae2c5b36e6_0_6"/>
          <p:cNvSpPr txBox="1"/>
          <p:nvPr>
            <p:ph type="title"/>
          </p:nvPr>
        </p:nvSpPr>
        <p:spPr>
          <a:xfrm>
            <a:off x="628650" y="6477"/>
            <a:ext cx="7886700" cy="1325700"/>
          </a:xfrm>
          <a:prstGeom prst="rect">
            <a:avLst/>
          </a:prstGeom>
        </p:spPr>
        <p:txBody>
          <a:bodyPr anchorCtr="0" anchor="ctr" bIns="45700" lIns="0" spcFirstLastPara="1" rIns="0" wrap="square" tIns="45700">
            <a:normAutofit/>
          </a:bodyPr>
          <a:lstStyle/>
          <a:p>
            <a:pPr indent="0" lvl="0" marL="0" rtl="0" algn="l">
              <a:spcBef>
                <a:spcPts val="0"/>
              </a:spcBef>
              <a:spcAft>
                <a:spcPts val="0"/>
              </a:spcAft>
              <a:buNone/>
            </a:pPr>
            <a:r>
              <a:rPr lang="en-US"/>
              <a:t>Residual Analysis</a:t>
            </a:r>
            <a:endParaRPr/>
          </a:p>
        </p:txBody>
      </p:sp>
      <p:pic>
        <p:nvPicPr>
          <p:cNvPr id="388" name="Google Shape;388;g3ae2c5b36e6_0_6"/>
          <p:cNvPicPr preferRelativeResize="0"/>
          <p:nvPr/>
        </p:nvPicPr>
        <p:blipFill rotWithShape="1">
          <a:blip r:embed="rId3">
            <a:alphaModFix/>
          </a:blip>
          <a:srcRect b="0" l="0" r="764" t="0"/>
          <a:stretch/>
        </p:blipFill>
        <p:spPr>
          <a:xfrm>
            <a:off x="221900" y="2053950"/>
            <a:ext cx="4692525" cy="30909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ada265f958_0_42"/>
          <p:cNvSpPr txBox="1"/>
          <p:nvPr>
            <p:ph idx="1" type="body"/>
          </p:nvPr>
        </p:nvSpPr>
        <p:spPr>
          <a:xfrm>
            <a:off x="1186450" y="1639450"/>
            <a:ext cx="7329000" cy="5452500"/>
          </a:xfrm>
          <a:prstGeom prst="rect">
            <a:avLst/>
          </a:prstGeom>
          <a:noFill/>
          <a:ln>
            <a:noFill/>
          </a:ln>
        </p:spPr>
        <p:txBody>
          <a:bodyPr anchorCtr="0" anchor="t" bIns="45700" lIns="0" spcFirstLastPara="1" rIns="0" wrap="square" tIns="45700">
            <a:normAutofit/>
          </a:bodyPr>
          <a:lstStyle/>
          <a:p>
            <a:pPr indent="0" lvl="0" marL="342900" rtl="0" algn="l">
              <a:lnSpc>
                <a:spcPct val="115000"/>
              </a:lnSpc>
              <a:spcBef>
                <a:spcPts val="0"/>
              </a:spcBef>
              <a:spcAft>
                <a:spcPts val="0"/>
              </a:spcAft>
              <a:buNone/>
            </a:pPr>
            <a:r>
              <a:rPr b="1" lang="en-US" sz="1900">
                <a:solidFill>
                  <a:schemeClr val="dk1"/>
                </a:solidFill>
              </a:rPr>
              <a:t>Extreme Events</a:t>
            </a:r>
            <a:endParaRPr b="1" sz="1900">
              <a:solidFill>
                <a:schemeClr val="dk1"/>
              </a:solidFill>
            </a:endParaRPr>
          </a:p>
          <a:p>
            <a:pPr indent="0" lvl="0" marL="342900" rtl="0" algn="l">
              <a:lnSpc>
                <a:spcPct val="115000"/>
              </a:lnSpc>
              <a:spcBef>
                <a:spcPts val="0"/>
              </a:spcBef>
              <a:spcAft>
                <a:spcPts val="0"/>
              </a:spcAft>
              <a:buNone/>
            </a:pPr>
            <a:r>
              <a:rPr lang="en-US" sz="1900">
                <a:solidFill>
                  <a:schemeClr val="dk1"/>
                </a:solidFill>
              </a:rPr>
              <a:t>Unusual events like COVID-19 or past recessions create spikes that may distort predictions</a:t>
            </a:r>
            <a:endParaRPr sz="1900">
              <a:solidFill>
                <a:schemeClr val="dk1"/>
              </a:solidFill>
            </a:endParaRPr>
          </a:p>
          <a:p>
            <a:pPr indent="0" lvl="0" marL="342900" rtl="0" algn="l">
              <a:lnSpc>
                <a:spcPct val="115000"/>
              </a:lnSpc>
              <a:spcBef>
                <a:spcPts val="1000"/>
              </a:spcBef>
              <a:spcAft>
                <a:spcPts val="0"/>
              </a:spcAft>
              <a:buNone/>
            </a:pPr>
            <a:r>
              <a:rPr b="1" lang="en-US" sz="1900">
                <a:solidFill>
                  <a:schemeClr val="dk1"/>
                </a:solidFill>
              </a:rPr>
              <a:t>Limited Predictors</a:t>
            </a:r>
            <a:endParaRPr b="1" sz="1900">
              <a:solidFill>
                <a:schemeClr val="dk1"/>
              </a:solidFill>
            </a:endParaRPr>
          </a:p>
          <a:p>
            <a:pPr indent="0" lvl="0" marL="342900" rtl="0" algn="l">
              <a:lnSpc>
                <a:spcPct val="115000"/>
              </a:lnSpc>
              <a:spcBef>
                <a:spcPts val="0"/>
              </a:spcBef>
              <a:spcAft>
                <a:spcPts val="0"/>
              </a:spcAft>
              <a:buNone/>
            </a:pPr>
            <a:r>
              <a:rPr lang="en-US" sz="1900">
                <a:solidFill>
                  <a:schemeClr val="dk1"/>
                </a:solidFill>
              </a:rPr>
              <a:t>Model uses selected indicators, doesn’t include factors like policy changes (e.g. labor regulations) or sectoral employment shifts (e.g. decline in </a:t>
            </a:r>
            <a:r>
              <a:rPr lang="en-US" sz="1900">
                <a:solidFill>
                  <a:schemeClr val="dk1"/>
                </a:solidFill>
              </a:rPr>
              <a:t>manufacturing</a:t>
            </a:r>
            <a:r>
              <a:rPr lang="en-US" sz="1900">
                <a:solidFill>
                  <a:schemeClr val="dk1"/>
                </a:solidFill>
              </a:rPr>
              <a:t>)</a:t>
            </a:r>
            <a:endParaRPr sz="1900">
              <a:solidFill>
                <a:schemeClr val="dk1"/>
              </a:solidFill>
            </a:endParaRPr>
          </a:p>
          <a:p>
            <a:pPr indent="0" lvl="0" marL="342900" rtl="0" algn="l">
              <a:lnSpc>
                <a:spcPct val="115000"/>
              </a:lnSpc>
              <a:spcBef>
                <a:spcPts val="1000"/>
              </a:spcBef>
              <a:spcAft>
                <a:spcPts val="0"/>
              </a:spcAft>
              <a:buNone/>
            </a:pPr>
            <a:r>
              <a:rPr b="1" lang="en-US" sz="1900">
                <a:solidFill>
                  <a:schemeClr val="dk1"/>
                </a:solidFill>
              </a:rPr>
              <a:t>Linear Relationships Assumed</a:t>
            </a:r>
            <a:endParaRPr b="1" sz="1900">
              <a:solidFill>
                <a:schemeClr val="dk1"/>
              </a:solidFill>
            </a:endParaRPr>
          </a:p>
          <a:p>
            <a:pPr indent="0" lvl="0" marL="342900" rtl="0" algn="l">
              <a:lnSpc>
                <a:spcPct val="115000"/>
              </a:lnSpc>
              <a:spcBef>
                <a:spcPts val="0"/>
              </a:spcBef>
              <a:spcAft>
                <a:spcPts val="0"/>
              </a:spcAft>
              <a:buNone/>
            </a:pPr>
            <a:r>
              <a:rPr lang="en-US" sz="1900">
                <a:solidFill>
                  <a:schemeClr val="dk1"/>
                </a:solidFill>
              </a:rPr>
              <a:t>Relationships between predictors and unemployment are assumed linear, might oversimplify real economic dynamics</a:t>
            </a:r>
            <a:endParaRPr sz="1900">
              <a:solidFill>
                <a:schemeClr val="dk1"/>
              </a:solidFill>
            </a:endParaRPr>
          </a:p>
          <a:p>
            <a:pPr indent="0" lvl="0" marL="342900" rtl="0" algn="l">
              <a:lnSpc>
                <a:spcPct val="115000"/>
              </a:lnSpc>
              <a:spcBef>
                <a:spcPts val="1000"/>
              </a:spcBef>
              <a:spcAft>
                <a:spcPts val="0"/>
              </a:spcAft>
              <a:buNone/>
            </a:pPr>
            <a:r>
              <a:t/>
            </a:r>
            <a:endParaRPr sz="1800">
              <a:solidFill>
                <a:schemeClr val="dk1"/>
              </a:solidFill>
            </a:endParaRPr>
          </a:p>
        </p:txBody>
      </p:sp>
      <p:sp>
        <p:nvSpPr>
          <p:cNvPr id="394" name="Google Shape;394;g3ada265f958_0_42"/>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Project Limitations</a:t>
            </a:r>
            <a:endParaRPr/>
          </a:p>
        </p:txBody>
      </p:sp>
      <p:sp>
        <p:nvSpPr>
          <p:cNvPr id="395" name="Google Shape;395;g3ada265f958_0_42"/>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graphicFrame>
        <p:nvGraphicFramePr>
          <p:cNvPr id="396" name="Google Shape;396;g3ada265f958_0_42"/>
          <p:cNvGraphicFramePr/>
          <p:nvPr/>
        </p:nvGraphicFramePr>
        <p:xfrm>
          <a:off x="443982" y="1844975"/>
          <a:ext cx="3000000" cy="3000000"/>
        </p:xfrm>
        <a:graphic>
          <a:graphicData uri="http://schemas.openxmlformats.org/drawingml/2006/table">
            <a:tbl>
              <a:tblPr>
                <a:noFill/>
                <a:tableStyleId>{BC353916-5367-4826-916C-976175D6CF8C}</a:tableStyleId>
              </a:tblPr>
              <a:tblGrid>
                <a:gridCol w="775625"/>
              </a:tblGrid>
              <a:tr h="102735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578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2120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1537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397" name="Google Shape;397;g3ada265f958_0_42"/>
          <p:cNvPicPr preferRelativeResize="0"/>
          <p:nvPr/>
        </p:nvPicPr>
        <p:blipFill>
          <a:blip r:embed="rId3">
            <a:alphaModFix/>
          </a:blip>
          <a:stretch>
            <a:fillRect/>
          </a:stretch>
        </p:blipFill>
        <p:spPr>
          <a:xfrm>
            <a:off x="443982" y="1678499"/>
            <a:ext cx="775624" cy="775624"/>
          </a:xfrm>
          <a:prstGeom prst="rect">
            <a:avLst/>
          </a:prstGeom>
          <a:noFill/>
          <a:ln>
            <a:noFill/>
          </a:ln>
        </p:spPr>
      </p:pic>
      <p:pic>
        <p:nvPicPr>
          <p:cNvPr id="398" name="Google Shape;398;g3ada265f958_0_42"/>
          <p:cNvPicPr preferRelativeResize="0"/>
          <p:nvPr/>
        </p:nvPicPr>
        <p:blipFill>
          <a:blip r:embed="rId4">
            <a:alphaModFix/>
          </a:blip>
          <a:stretch>
            <a:fillRect/>
          </a:stretch>
        </p:blipFill>
        <p:spPr>
          <a:xfrm>
            <a:off x="477132" y="4312227"/>
            <a:ext cx="709324" cy="709324"/>
          </a:xfrm>
          <a:prstGeom prst="rect">
            <a:avLst/>
          </a:prstGeom>
          <a:noFill/>
          <a:ln>
            <a:noFill/>
          </a:ln>
        </p:spPr>
      </p:pic>
      <p:pic>
        <p:nvPicPr>
          <p:cNvPr id="399" name="Google Shape;399;g3ada265f958_0_42"/>
          <p:cNvPicPr preferRelativeResize="0"/>
          <p:nvPr/>
        </p:nvPicPr>
        <p:blipFill>
          <a:blip r:embed="rId5">
            <a:alphaModFix/>
          </a:blip>
          <a:stretch>
            <a:fillRect/>
          </a:stretch>
        </p:blipFill>
        <p:spPr>
          <a:xfrm>
            <a:off x="585931" y="2864840"/>
            <a:ext cx="600525" cy="600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ada265f958_0_49"/>
          <p:cNvSpPr txBox="1"/>
          <p:nvPr>
            <p:ph idx="1" type="body"/>
          </p:nvPr>
        </p:nvSpPr>
        <p:spPr>
          <a:xfrm>
            <a:off x="532875" y="1664075"/>
            <a:ext cx="7982400" cy="4621200"/>
          </a:xfrm>
          <a:prstGeom prst="rect">
            <a:avLst/>
          </a:prstGeom>
          <a:noFill/>
          <a:ln>
            <a:noFill/>
          </a:ln>
        </p:spPr>
        <p:txBody>
          <a:bodyPr anchorCtr="0" anchor="t" bIns="45700" lIns="0" spcFirstLastPara="1" rIns="0" wrap="square" tIns="45700">
            <a:normAutofit/>
          </a:bodyPr>
          <a:lstStyle/>
          <a:p>
            <a:pPr indent="-323850" lvl="0" marL="342900" rtl="0" algn="l">
              <a:lnSpc>
                <a:spcPct val="115000"/>
              </a:lnSpc>
              <a:spcBef>
                <a:spcPts val="0"/>
              </a:spcBef>
              <a:spcAft>
                <a:spcPts val="0"/>
              </a:spcAft>
              <a:buClr>
                <a:schemeClr val="dk1"/>
              </a:buClr>
              <a:buSzPts val="2100"/>
              <a:buChar char="•"/>
            </a:pPr>
            <a:r>
              <a:rPr lang="en-US" sz="2100">
                <a:solidFill>
                  <a:schemeClr val="dk1"/>
                </a:solidFill>
              </a:rPr>
              <a:t>Our linear regression model </a:t>
            </a:r>
            <a:r>
              <a:rPr b="1" lang="en-US" sz="2100">
                <a:solidFill>
                  <a:schemeClr val="dk1"/>
                </a:solidFill>
              </a:rPr>
              <a:t>accurately predicts </a:t>
            </a:r>
            <a:r>
              <a:rPr lang="en-US" sz="2100">
                <a:solidFill>
                  <a:schemeClr val="dk1"/>
                </a:solidFill>
              </a:rPr>
              <a:t>the December 2025 U-3 unemployment rate at </a:t>
            </a:r>
            <a:r>
              <a:rPr b="1" lang="en-US" sz="2100">
                <a:solidFill>
                  <a:schemeClr val="dk1"/>
                </a:solidFill>
              </a:rPr>
              <a:t>4.23%</a:t>
            </a:r>
            <a:r>
              <a:rPr lang="en-US" sz="2100">
                <a:solidFill>
                  <a:schemeClr val="dk1"/>
                </a:solidFill>
              </a:rPr>
              <a:t>, closely reflecting current labor market trends</a:t>
            </a:r>
            <a:endParaRPr sz="2100">
              <a:solidFill>
                <a:schemeClr val="dk1"/>
              </a:solidFill>
            </a:endParaRPr>
          </a:p>
          <a:p>
            <a:pPr indent="-323850" lvl="0" marL="342900" marR="0" rtl="0" algn="l">
              <a:lnSpc>
                <a:spcPct val="115000"/>
              </a:lnSpc>
              <a:spcBef>
                <a:spcPts val="1000"/>
              </a:spcBef>
              <a:spcAft>
                <a:spcPts val="0"/>
              </a:spcAft>
              <a:buClr>
                <a:schemeClr val="dk1"/>
              </a:buClr>
              <a:buSzPts val="2100"/>
              <a:buChar char="•"/>
            </a:pPr>
            <a:r>
              <a:rPr lang="en-US" sz="2100">
                <a:solidFill>
                  <a:schemeClr val="dk1"/>
                </a:solidFill>
              </a:rPr>
              <a:t>High R² (0.9977) and </a:t>
            </a:r>
            <a:r>
              <a:rPr b="1" lang="en-US" sz="2100">
                <a:solidFill>
                  <a:schemeClr val="dk1"/>
                </a:solidFill>
              </a:rPr>
              <a:t>low error metrics</a:t>
            </a:r>
            <a:r>
              <a:rPr lang="en-US" sz="2100">
                <a:solidFill>
                  <a:schemeClr val="dk1"/>
                </a:solidFill>
              </a:rPr>
              <a:t> (MAE 0.0711, RMSE 0.0945) indicate excellent historical fit and predictive reliability</a:t>
            </a:r>
            <a:endParaRPr sz="2100">
              <a:solidFill>
                <a:schemeClr val="dk1"/>
              </a:solidFill>
            </a:endParaRPr>
          </a:p>
          <a:p>
            <a:pPr indent="-323850" lvl="0" marL="342900" marR="0" rtl="0" algn="l">
              <a:lnSpc>
                <a:spcPct val="115000"/>
              </a:lnSpc>
              <a:spcBef>
                <a:spcPts val="1000"/>
              </a:spcBef>
              <a:spcAft>
                <a:spcPts val="0"/>
              </a:spcAft>
              <a:buClr>
                <a:schemeClr val="dk1"/>
              </a:buClr>
              <a:buSzPts val="2100"/>
              <a:buChar char="•"/>
            </a:pPr>
            <a:r>
              <a:rPr b="1" lang="en-US" sz="2100">
                <a:solidFill>
                  <a:schemeClr val="dk1"/>
                </a:solidFill>
              </a:rPr>
              <a:t>Transformations</a:t>
            </a:r>
            <a:r>
              <a:rPr lang="en-US" sz="2100">
                <a:solidFill>
                  <a:schemeClr val="dk1"/>
                </a:solidFill>
              </a:rPr>
              <a:t> like lagged variables, rolling averages, and logarithms help reveal patterns in unemployment</a:t>
            </a:r>
            <a:endParaRPr sz="2100">
              <a:solidFill>
                <a:schemeClr val="dk1"/>
              </a:solidFill>
            </a:endParaRPr>
          </a:p>
          <a:p>
            <a:pPr indent="-323850" lvl="0" marL="342900" marR="0" rtl="0" algn="l">
              <a:lnSpc>
                <a:spcPct val="115000"/>
              </a:lnSpc>
              <a:spcBef>
                <a:spcPts val="1000"/>
              </a:spcBef>
              <a:spcAft>
                <a:spcPts val="1000"/>
              </a:spcAft>
              <a:buClr>
                <a:schemeClr val="dk1"/>
              </a:buClr>
              <a:buSzPts val="2100"/>
              <a:buChar char="•"/>
            </a:pPr>
            <a:r>
              <a:rPr lang="en-US" sz="2100">
                <a:solidFill>
                  <a:schemeClr val="dk1"/>
                </a:solidFill>
              </a:rPr>
              <a:t>Extreme events, limited predictors, and linearity assumptions </a:t>
            </a:r>
            <a:r>
              <a:rPr b="1" lang="en-US" sz="2100">
                <a:solidFill>
                  <a:schemeClr val="dk1"/>
                </a:solidFill>
              </a:rPr>
              <a:t>limit model’s accuracy</a:t>
            </a:r>
            <a:r>
              <a:rPr lang="en-US" sz="2100">
                <a:solidFill>
                  <a:schemeClr val="dk1"/>
                </a:solidFill>
              </a:rPr>
              <a:t>, so the model serves as a general guide rather than an exact prediction</a:t>
            </a:r>
            <a:endParaRPr sz="2100">
              <a:solidFill>
                <a:schemeClr val="dk1"/>
              </a:solidFill>
            </a:endParaRPr>
          </a:p>
        </p:txBody>
      </p:sp>
      <p:sp>
        <p:nvSpPr>
          <p:cNvPr id="405" name="Google Shape;405;g3ada265f958_0_49"/>
          <p:cNvSpPr txBox="1"/>
          <p:nvPr>
            <p:ph type="title"/>
          </p:nvPr>
        </p:nvSpPr>
        <p:spPr>
          <a:xfrm>
            <a:off x="628650" y="6477"/>
            <a:ext cx="7886700" cy="132570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rgbClr val="800000"/>
              </a:buClr>
              <a:buSzPts val="3600"/>
              <a:buFont typeface="Helvetica Neue"/>
              <a:buNone/>
            </a:pPr>
            <a:r>
              <a:rPr lang="en-US">
                <a:solidFill>
                  <a:srgbClr val="800000"/>
                </a:solidFill>
              </a:rPr>
              <a:t>Summary </a:t>
            </a:r>
            <a:endParaRPr/>
          </a:p>
        </p:txBody>
      </p:sp>
      <p:sp>
        <p:nvSpPr>
          <p:cNvPr id="406" name="Google Shape;406;g3ada265f958_0_49"/>
          <p:cNvSpPr txBox="1"/>
          <p:nvPr>
            <p:ph idx="12" type="sldNum"/>
          </p:nvPr>
        </p:nvSpPr>
        <p:spPr>
          <a:xfrm>
            <a:off x="8515349" y="6456764"/>
            <a:ext cx="460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800"/>
              <a:buFont typeface="Helvetica Neue"/>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Chicago">
  <a:themeElements>
    <a:clrScheme name="Custom 3">
      <a:dk1>
        <a:srgbClr val="000000"/>
      </a:dk1>
      <a:lt1>
        <a:srgbClr val="FFFFFF"/>
      </a:lt1>
      <a:dk2>
        <a:srgbClr val="737373"/>
      </a:dk2>
      <a:lt2>
        <a:srgbClr val="D9D9D9"/>
      </a:lt2>
      <a:accent1>
        <a:srgbClr val="800000"/>
      </a:accent1>
      <a:accent2>
        <a:srgbClr val="D9D9D9"/>
      </a:accent2>
      <a:accent3>
        <a:srgbClr val="A6A6A6"/>
      </a:accent3>
      <a:accent4>
        <a:srgbClr val="EAAA00"/>
      </a:accent4>
      <a:accent5>
        <a:srgbClr val="B36955"/>
      </a:accent5>
      <a:accent6>
        <a:srgbClr val="002A3A"/>
      </a:accent6>
      <a:hlink>
        <a:srgbClr val="800000"/>
      </a:hlink>
      <a:folHlink>
        <a:srgbClr val="7373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2021-04-05T18:28:10Z</dcterms:created>
  <dc:creator>Renee Kuklenski</dc:creator>
</cp:coreProperties>
</file>